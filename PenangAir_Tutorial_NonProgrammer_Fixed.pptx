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7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34.xml" ContentType="application/vnd.openxmlformats-officedocument.presentationml.slide+xml"/>
  <Override PartName="/ppt/slides/slide32.xml" ContentType="application/vnd.openxmlformats-officedocument.presentationml.slide+xml"/>
  <Override PartName="/ppt/slides/slide24.xml" ContentType="application/vnd.openxmlformats-officedocument.presentationml.slide+xml"/>
  <Override PartName="/ppt/slides/slide28.xml" ContentType="application/vnd.openxmlformats-officedocument.presentationml.slide+xml"/>
  <Override PartName="/ppt/slides/slide8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33.xml" ContentType="application/vnd.openxmlformats-officedocument.presentationml.slide+xml"/>
  <Override PartName="/ppt/slides/slide2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A7FAEAC-F346-4810-9E1B-44B285341EF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 on WHAT and WHY, not code syntax.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2E1BDA6-2F35-4F92-A1E1-D6E45690B0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for questions.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4780B6F-BC4F-4CE8-89EE-7A9E3065387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FF74CD7-1B2B-4FAC-B93E-4EA4C18C00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822C5EA-AD22-4719-BA35-576BD4DFE25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07463D-5B75-4BD7-82F5-FDBA153FB0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0E62936-905E-4ED0-9256-6DB0E7EBC6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554A584-B7FD-45B3-85AE-19F004ABDA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990BD2C-FF36-4D93-9249-3D4ECB938C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D802B5B-D8A5-4C3C-9985-B9DA8D7BF2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502C047-7706-41D7-9B00-333F198035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2317BAF-1590-423A-BDA4-E7F3B26E08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4C746F4-C418-4818-AEE1-50C076D7FE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6C32A10-3ECF-4516-A625-4BE556CA68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PenangAir: Explaining the Model Without Programming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Simple Visual Explanation of All GAML Files</a:t>
            </a:r>
            <a:endParaRPr lang="en-US" sz="32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For People Who Have Never Coded Before</a:t>
            </a:r>
            <a:endParaRPr lang="en-US" sz="32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Our Approach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0" algn="l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Focus: WHAT each part does and WHY it exists.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Almost no code shown – only simple ideas, steps and analogies.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Use real examples from PenangAir (real roads, real traffic counts).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Follow the story: Real Map → Traffic → Pollution → Visuals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Big Picture (In Simple Words)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PenangAir simulates traffic and air pollution on a REAL map of Penang.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asks: 'If traffic increases, where might pollution hotspots appear?'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is made of many smaller parts working together.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Main Idea: Traffic activity → Creates emissions → Leads to pollution → We see it on the map.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4 Main Groups of Files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1. CONTROL (Settings): global_vars.gaml – What rules/values to use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 MAP &amp; GIS (in main.gaml): Loads the real Penang map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 SETUP &amp; TIMING (Orchestration): PenangAir.gaml + main.gaml – Starts and runs everything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 BEHAVIOURS (Agents): traffic, pollution, visualization – Who does what and what we see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 INPUT DATA (includes/): Roads (shapefiles) + Traffic counts (traffic_counts.csv)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1. global_vars.gaml – The Control Panel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Analogy: Like a car's dashboard/settings (controls you can adjust).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Purpose: Keeps ALL numbers/settings in one central place.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Examples: How fast time runs, study area size, max vehicles, labels for charts.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WHY: Easy to test 'what-if' (change one number, whole model changes).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Idea: Separates SETTINGS from LOGIC.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 main.gaml – Loading the Real Map &amp; GIS Data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Analogy: Loading a Google Map of Penang before placing cars.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Reads real GIS map files (roads, buildings) from includes/ folder.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Creates the ROAD NETWORK (roads + intersections) that vehicles can travel on.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Defines the study area boundary (the area we are looking at).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Idea: Simulation happens on REAL geography, not a flat grid.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 PenangAir.gaml – The Main Model File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Analogy: The 'master folder/conductor' that brings everyone together.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Connects all parts: settings + map + setup + agents.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Defines EXPERIMENTS – the different ways to run the model (interactive GUI).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This is the file you OPEN in GAMA to start the simulation.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Idea: The ENTRY POINT (starting door) to run everything.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 main.gaml – Setup, Clean-Up &amp; Timing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Analogy: Like setting up a road network + placing cars BEFORE pressing PLAY.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Runs ONCE at start (Initialisation). Then runs repeatedly over time.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Main Jobs: Centre map on study area, load roads/buildings, clean road network, create vehicles, keep time &amp; AQI updated.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Idea: GETS EVERYTHING READY, then keeps the clock ticking.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Important Step: Cleaning the Road Network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Problem: When we cut the map to our study area, some roads get CUT OFF and become 'islands' (disconnected).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Imagine: A small road piece with NO connection to the rest of the road network.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Vehicles placed there CANNOT move anywhere (stuck forever).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Solution: Find the BIGGEST connected road network, keep it. Remove small 'islands' (isolated fragments).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WHY: Keeps vehicles moving realistically on a connected road system.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 The ON/OFF Switch: 'use_traffic_data'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Simple Question: Do we want to use REAL traffic data, or made-up traffic?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use_traffic_data = 1 → YES, use REAL traffic from traffic_counts.csv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use_traffic_data = 0 → NO, use a SMALL RANDOM default fleet (90 vehicles), scattered over all road types → much less traffic, weaker/diffuse pollution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It's just an ON/OFF switch (toggle). Set to 1 in the model.  Normal mode = 1 (real CSV data); 0 = sparse random test fleet.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Idea: Easy way to choose realistic vs. simple traffic.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 traffic_counts.csv – Real Traffic Survey Data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What it is: A spreadsheet of REAL traffic counts for Penang roads.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Contains ~2540 road entries with how many cars/buses/lorries/motorcycles pass.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Each row tells us: Road Name + Road Type + Length + Vehicle Counts (4 types).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Purpose: Makes the simulation start with REALISTIC traffic, not random guesses.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Idea: Input DATA (facts about Penang traffic).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Understanding the CSV Columns (Simple Terms)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road_name: Name of the road (e.g. Jalan Masjid Negeri)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highway: Road TYPE (trunk, primary, secondary, tertiary, residential...)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length_m: How long the road is (in metres)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cars, buses, lorries, motorcycles: How MANY of each were counted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WHY road type matters: If a road has no name, we can still estimate by its TYPE.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How Traffic Data Becomes Vehicles (Big Picture)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1: Read traffic_counts.csv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2: For EACH road on the Penang map, decide: Use EXACT name match OR use AVERAGE by road type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3: Work out HOW MANY vehicles should be on that road segment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4: Create vehicle AGENTS (cars/bikes/buses/lorries) on those roads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5: Vehicles start moving on the road network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2 – Two Ways to Find Traffic Counts (Analogy: Phone Book)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OPTION A – EXACT MATCH (Preferred): Look up road by its EXACT name.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Analogy: Like looking up 'Jalan Masjid Negeri' in a phone book → get its exact numbers.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OPTION B – BY ROAD TYPE (Fallback): If NO name match, group by highway type.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Analogy: If unknown street name, use AVERAGE for all 'trunk' roads (or 'primary', etc.)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WHY: Some GIS road segments have missing names. This way ALL roads still get traffic (plausible, not zero).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Real Example: Exact Match vs Road-Type Average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EXAMPLE 1 – Exact Match: Road named 'Jalan Masjid Negeri' (trunk) in CSV has 638 cars, 33 buses, 55 lorries, 374 motorcycles → Use THESE exact numbers.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EXAMPLE 2 – No Name Match: An unnamed road segment is TYPE 'trunk' → Take AVERAGE of ALL trunk roads in CSV → Apply that average to this unnamed segment.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RULE: Try EXACT match FIRST. If no match → use ROAD TYPE average.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RESULT: Realistic where known, reasonable where unknown.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3 – From Traffic Counts to Vehicle Numbers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Traffic counts are 'how many pass per road' (survey numbers).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GIS splits roads into SHORT segments. We need how many vehicles to put on EACH segment.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We adjust based on: Segment LENGTH + Road TYPE SPEED (how fast vehicles travel).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Longer/slower roads can 'hold' more vehicles at a time than very short fast roads.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Simple Idea: Convert total counts → estimate vehicles present on that road segment at a given time.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Simple Example: Fractional Carry (Avoid Losing Vehicles)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Calculation gives decimals: e.g. 2.7 vehicles for a road segment.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We CANNOT create 0.7 of a vehicle agent – we can only create whole vehicles.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Solution: Create 2 vehicles on THIS segment, CARRY FORWARD 0.7 to the NEXT road segment.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Next segment does: its own calculation + 0.7 carried over.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WHY: If we just rounded DOWN (truncated) everywhere, we would LOSE many vehicles (especially on many short segments). Carrying remainders preserves the TOTAL fleet.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4 – Create Vehicle Agents on the Map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We now have a list of 'spots' (locations on roads) for each vehicle type (cars, motorcycles, buses, lorries).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Model creates ONE vehicle AGENT at each spot (car_random, motorbike_random, bus_random, lorry_random).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These are the INDIVIDUAL vehicles that will move in the simulation.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Scale &amp; Cap: Can scale all by 'fleet_scale' (keeps same mix). Capped by 'max_vehicles' to keep it running smoothly (proportionally reduced to preserve mix).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 agents/traffic.gaml – The Vehicles That Move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Purpose: Defines how vehicles BEHAVE (move) on the road network.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Vehicles are AGENTS: Each car/bike/bus/lorry is an individual that follows rules.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Movement: Travel along roads (network-constrained), follow road paths, move step-by-step over time.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Speed depends on ROAD TYPE (trunk faster than residential, etc.)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Idea: This is the TRAFFIC LAYER – vehicles moving around Penang.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8. agents/pollution.gaml – From Traffic to Pollution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Purpose: Takes traffic ACTIVITY and turns it into AIR POLLUTION representation.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Core Chain: TRAFFIC ACTIVITY → EMISSIONS → POLLUTION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Where vehicles move (especially busy roads), pollution builds up/spreads.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Represented as a SPATIAL POLLUTION FIELD (pollution levels across the map area).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Creates POLLUTION HOTSPOTS (areas with higher pollution intensity).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Simplified &amp; educational (focuses on cause–effect, not full atmospheric chemistry).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Pollution Hotspots – Simple Explanation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More traffic activity (more vehicles, busier roads) → More emissions in that area.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Pollution levels vary SPATIALLY (not same everywhere on map).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Busy junctions/roads tend to show HIGHER pollution (hotspots).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Over time, pollution levels CHANGE as traffic flows change.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This is shown as COLOUR GRADIENTS on the map (darker/warmer = higher pollution).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Box 1"/>
          <p:cNvSpPr/>
          <p:nvPr/>
        </p:nvSpPr>
        <p:spPr>
          <a:xfrm>
            <a:off x="457200" y="32004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Emissions by Vehicle Type (per km)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2"/>
          <p:cNvSpPr/>
          <p:nvPr/>
        </p:nvSpPr>
        <p:spPr>
          <a:xfrm>
            <a:off x="548640" y="1005840"/>
            <a:ext cx="80463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Each vehicle emits pollutants as it travels. Per-km factors (published values):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Heat-map weight = (PM + NOx) x 3.0 x EMISSION_SCALE.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EMISSION_SCALE is the magnitude knob: lowered from 0.2 to 0.15 (about 25% less).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Electric vehicles emit only 10% of their class factor.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2" name="Table 3"/>
          <p:cNvGraphicFramePr/>
          <p:nvPr/>
        </p:nvGraphicFramePr>
        <p:xfrm>
          <a:off x="548640" y="2560320"/>
          <a:ext cx="8046360" cy="2103120"/>
        </p:xfrm>
        <a:graphic>
          <a:graphicData uri="http://schemas.openxmlformats.org/drawingml/2006/table">
            <a:tbl>
              <a:tblPr/>
              <a:tblGrid>
                <a:gridCol w="1609200"/>
                <a:gridCol w="1609200"/>
                <a:gridCol w="1609200"/>
                <a:gridCol w="1609200"/>
                <a:gridCol w="16092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Vehicle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66A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 (g/km)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66A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NOx (g/km)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66A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SO2 (g/km)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66A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PM (g/km)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66AA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motorbike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6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3.62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6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0.3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6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0.03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6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0.1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6FF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car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3.62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1.5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0.17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0.1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bus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6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13.0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6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7.0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6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0.5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6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0.9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6FF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lorry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15.0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9.0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0.6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Calibri"/>
                        </a:rPr>
                        <a:t>1.0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3" name="TextBox 4"/>
          <p:cNvSpPr/>
          <p:nvPr/>
        </p:nvSpPr>
        <p:spPr>
          <a:xfrm>
            <a:off x="548640" y="521208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Key idea: buses and lorries are the heavy polluters (PM+NOx sits ~an order of magnitude above a car). Lowering EMISSION_SCALE from 0.2 to 0.15 cuts every type by about 25%.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9. agents/visualization.gaml – What We See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Purpose: Turns numbers/agents into a VISUAL MAP + CHARTS (the GUI you see).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Shows: Penang map background, roads, buildings, vehicles moving, pollution layer (colours), study boundary.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Charts: AQI/pollution over TIME (line graph).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UI: Indicators (Time), progress bars (vehicle counts/mix).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Idea: Makes the invisible (pollution levels) VISIBLE on screen.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Buildings &amp; Visuals (For Clarity)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Buildings loaded from shapefile to show urban area (city context).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Given small depth/varied textures to look nicer on map (visual only, not affecting simulation).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Helps us recognise areas (George Town/Penang urban layout).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Time &amp; AQI (How We Track Changes Over Time)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Simulation runs STEP-BY-STEP (time passes in simulation).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Clock updates on screen (shows current simulation time).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AQI (Air Quality Indicator): Tracks MAXIMUM pollution level in the study area at intervals.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Plotted as a LINE GRAPH over time (shows trends: when does pollution go up/down?).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Idea: See HOW pollution changes over TIME, not just a single snapshot.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Full Story: Step-by-Step (Start → End)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1: Start (PenangAir.gaml) – Open model, press Run.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2: Load Settings (global_vars) – Read rules/numbers.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3: Load Map (in main.gaml) – Load real Penang roads+buildings.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4: Get Ready (main.gaml init) – Clean road network, prepare study area.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5: Load Real Traffic? Check use_traffic_data == 1 → Read traffic_counts.csv.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6: Create Vehicles – Spawn cars/bikes/buses/lorries on roads (by name or road type).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7: Press PLAY (Time Starts) – Simulation runs step-by-step.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Full Story: Step-by-Step (Runtime)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8: Traffic Moves (traffic.gaml) – Vehicles travel along roads over time (traffic flows).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9: Pollution Updates (pollution.gaml) – Emissions calculated from traffic → Pollution field updated → Hotspots appear/change.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10: Update Time &amp; AQI (main.gaml) – Clock updates, pollution trend chart updates.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11: Visualize (visualization.gaml) – Map, vehicles, pollution colours, charts all update in REAL-TIME.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12: Observe – Watch patterns emerge (cause–effect: traffic → pollution).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Cause–Effect Chain (Most Important)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REAL MAP (Geography)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↓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REAL TRAFFIC COUNTS (CSV) → Vehicles placed on roads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↓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VEHICLES MOVE (Traffic Flow)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↓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TRAFFIC ACTIVITY creates EMISSIONS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↓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EMISSIONS become AIR POLLUTION (spatial hotspots)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↓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WE SEE IT ON MAP + CHARTS (Visualization)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Concepts in Plain Words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AGENTS: Individual things that act (each vehicle is an 'agent').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AGENT-BASED MODEL (ABM): Many simple agents follow rules → Complex patterns appear.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GIS: Real maps (roads/buildings) instead of imaginary grid.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SPATIAL: Location matters (pollution differs by place).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TIME-STEPPING: Simulation moves forward little by little (second by second).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EMERGENCE: We don't 'draw' hotspots – they appear from traffic behaviour.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Why These Design Choices? (Simple Reasons)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Split into many files: Easier to understand each part separately (divide &amp; explain).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Name-first, then road-type fallback: Uses real data where possible, fills gaps sensibly.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Clean network (remove islands): Prevents vehicles getting stuck unrealistically.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Fractional carry: Keeps total traffic numbers accurate (doesn't lose vehicles).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Cap total vehicles (max_vehicles): Keeps model smooth for demos (keeps proportions same).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use_traffic_data switch: Can test real vs. simple traffic easily.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What to Look For When Running (Demo Guide)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1. Map loads first: See Penang roads/buildings appear.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 Vehicles appear: Cars/bikes/buses/lorries placed on roads (realistic distribution).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 Press Play: Vehicles start MOVING along roads.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 Watch colours: Pollution layer changes colour over time (hotspots forming).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 Watch chart: AQI line graph goes up/down as traffic changes.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 Notice pattern: Busy roads/junctions often show higher pollution.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Simple Summary (One Sentence Per Part)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PenangAir.gaml = Starts everything (entry point).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global_vars.gaml = The control panel (settings).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main.gaml = Loads GIS data, cleans roads, builds vehicles, runs the clock.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agents/ folder holds traffic, pollution, and visualization behaviours.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traffic_counts.csv = Real traffic numbers (input data).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traffic.gaml = Vehicles move on roads (traffic).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pollution.gaml = Traffic → creates pollution (impact).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visualization.gaml = Shows everything on screen (what we see).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Takeaway (In One Sentence)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PenangAir uses REAL traffic data on a REAL map of Penang to show, visually, how traffic can create air pollution hotspots over time.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Q&amp;A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Thank You</a:t>
            </a:r>
            <a:endParaRPr lang="en-US" sz="32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2026-10-07T22:12:26Z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