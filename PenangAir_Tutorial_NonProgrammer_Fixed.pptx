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9.xml" ContentType="application/vnd.openxmlformats-officedocument.presentationml.slide+xml"/>
  <Override PartName="/ppt/slides/slide5.xml" ContentType="application/vnd.openxmlformats-officedocument.presentationml.slide+xml"/>
  <Override PartName="/ppt/slides/slide32.xml" ContentType="application/vnd.openxmlformats-officedocument.presentationml.slide+xml"/>
  <Override PartName="/ppt/slides/slide24.xml" ContentType="application/vnd.openxmlformats-officedocument.presentationml.slide+xml"/>
  <Override PartName="/ppt/slides/slide30.xml" ContentType="application/vnd.openxmlformats-officedocument.presentationml.slide+xml"/>
  <Override PartName="/ppt/slides/slide8.xml" ContentType="application/vnd.openxmlformats-officedocument.presentationml.slide+xml"/>
  <Override PartName="/ppt/slides/slide31.xml" ContentType="application/vnd.openxmlformats-officedocument.presentationml.slide+xml"/>
  <Override PartName="/ppt/slides/slide28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52306BF-4B1D-4116-8E25-4926D777BCE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Focus on WHAT and WHY, not code syntax.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C9C61EE-4951-471A-BF4A-D683FBA944F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for questions.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BE6A18-EA0C-40F3-B4A5-032996E193E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4B2B009-1D7B-4880-A760-48E3B01D22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0445ADB-A896-48A2-8339-03A59C54AE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EA65B1C-F002-45AF-8A34-9919E85B59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C5B0567-B024-4294-A073-0C5407B829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62D6834-BAC4-4FB6-A6A1-01A4D5FC12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429D797-C956-4C7B-AA77-22B5831FA7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ACDD8F8-EBAC-4A89-BD8F-ED63E1D4B9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CF5DB5D-FEA4-4F6E-8E65-1EEE96CCAC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6F27CB6-3AF2-489D-8262-FDB6686470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2819268-DBBF-4BD6-B6B2-1DDEE110CB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944505A-4B57-4ABE-9D3D-DCD89E62E6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PenangAir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Simple Visual Explanation of All GAML Files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Our Approach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Focus: WHAT each part does and WHY it exists.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real examples from PenangAir (real roads, real traffic counts).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Follow the story: Real Map → Traffic → Pollution → Visuals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Big Picture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PenangAir simulates traffic and air pollution on a REAL map of Penang.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asks: 'If traffic increases, where might pollution hotspots appear?'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is made of many smaller parts working together.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Idea: Traffic activity → Creates emissions → Leads to pollution → We see it on the map.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Concepts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AGENTS: Individual things that act (each vehicle is an 'agent').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AGENT-BASED MODEL (ABM): Many simple agents follow rules → Complex patterns appear.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GIS: Real maps (roads/buildings) instead of imaginary grid.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TIME-STEPPING: Simulation moves forward little by little (step-by step, second by second).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EMERGENCE: We don't 'draw' hotspots – they appear from traffic behaviour.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355680" algn="l"/>
                <a:tab pos="711360" algn="l"/>
                <a:tab pos="1066680" algn="l"/>
                <a:tab pos="1422360" algn="l"/>
                <a:tab pos="1778040" algn="l"/>
                <a:tab pos="2133720" algn="l"/>
                <a:tab pos="2489040" algn="l"/>
                <a:tab pos="2844720" algn="l"/>
                <a:tab pos="3200400" algn="l"/>
                <a:tab pos="3556080" algn="l"/>
                <a:tab pos="3911760" algn="l"/>
                <a:tab pos="426708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Flow chart of the models</a:t>
            </a:r>
            <a:endParaRPr lang="en-US" sz="4400" b="0" u="none" strike="noStrike">
              <a:solidFill>
                <a:srgbClr val="073C52"/>
              </a:solidFill>
              <a:effectLst/>
              <a:uFillTx/>
              <a:latin typeface="Arial"/>
            </a:endParaRPr>
          </a:p>
        </p:txBody>
      </p:sp>
      <p:pic>
        <p:nvPicPr>
          <p:cNvPr id="77" name=""/>
          <p:cNvPicPr/>
          <p:nvPr/>
        </p:nvPicPr>
        <p:blipFill>
          <a:blip r:embed="rId1"/>
          <a:stretch/>
        </p:blipFill>
        <p:spPr>
          <a:xfrm>
            <a:off x="1143000" y="1629360"/>
            <a:ext cx="7380360" cy="52286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Cause–Effect Chain (Most Important)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 MAP (GIS)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↓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 TRAFFIC COUNTS (CSV) → Vehicles placed on roads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↓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VEHICLES MOVE (Traffic Flow)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↓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TRAFFIC ACTIVITY creates EMISSIONS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↓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EMISSIONS become AIR POLLUTION (spatial hotspots)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↓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 SEE IT ON MAP + CHARTS (Visualization)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What to Look For When Running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Map loads first: See Penang roads/buildings appear.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Vehicles appear: Cars/bikes/buses/lorries placed on roads (realistic distribution).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Press Play: Vehicles start MOVING along roads.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 Watch colours: Pollution layer changes colour over time (hotspots forming).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 Watch chart: AQI line graph goes up/down as traffic changes.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 Notice pattern: Busy roads/junctions often show higher pollution.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4 Main Groups of Files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CONTROL (Settings): global_vars.gaml – What rules/values to use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MAP &amp; GIS (in main.gaml): Loads the real Penang map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SETUP &amp; TIMING (Orchestration): PenangAir.gaml + main.gaml – Starts and runs everything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 BEHAVIOURS (Agents): traffic, pollution, visualization – Who does what and what we see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 INPUT DATA (includes/): Roads (shapefiles) + Traffic counts (traffic_counts.csv)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global_vars.gaml – The Control Panel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57200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Analogy: Like a car's dashboard/settings (controls you can adjust).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Purpose: Keeps ALL numbers/settings in one central place.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Examples: How fast time runs, study area size, max vehicles, labels for charts.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WHY: Easy to test 'what-if' (change one number, whole model changes).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Idea: Separates SETTINGS from LOGIC.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6" name=""/>
          <p:cNvPicPr/>
          <p:nvPr/>
        </p:nvPicPr>
        <p:blipFill>
          <a:blip r:embed="rId1"/>
          <a:stretch/>
        </p:blipFill>
        <p:spPr>
          <a:xfrm>
            <a:off x="4826160" y="2286000"/>
            <a:ext cx="4089240" cy="16124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main.gaml – Loading the Real Map &amp; GIS Data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1480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Analogy: Loading a GIS Map of Penang before placing cars.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Reads real GIS map files (roads, buildings) from includes/ folder.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Creates the ROAD NETWORK (roads + intersections) that vehicles can travel on.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Defines the study area boundary (the area we are looking at).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Idea: Simulation happens on REAL geography, not a flat grid.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"/>
          <p:cNvPicPr/>
          <p:nvPr/>
        </p:nvPicPr>
        <p:blipFill>
          <a:blip r:embed="rId1"/>
          <a:stretch/>
        </p:blipFill>
        <p:spPr>
          <a:xfrm>
            <a:off x="5029200" y="2743200"/>
            <a:ext cx="3758760" cy="17395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PenangAir.gaml – The Main Model File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1480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Analogy: The 'master folder/conductor' that brings everyone together.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Connects all parts: settings + map + setup + agents.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Defines EXPERIMENTS – the different ways to run the model (interactive GUI).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is the file you OPEN in GAMA to start the simulation.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Idea: The ENTRY POINT (starting door) to run everything.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"/>
          <p:cNvPicPr/>
          <p:nvPr/>
        </p:nvPicPr>
        <p:blipFill>
          <a:blip r:embed="rId1"/>
          <a:stretch/>
        </p:blipFill>
        <p:spPr>
          <a:xfrm>
            <a:off x="5257800" y="2668680"/>
            <a:ext cx="3390480" cy="17395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 main.gaml – Setup, Clean-Up &amp; Timing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Analogy: Like setting up a road network + placing cars BEFORE pressing PLAY.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Runs ONCE at start (Initialisation). Then runs repeatedly over time.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Jobs: Centre map on study area, load roads/buildings, clean road network, create vehicles, keep time &amp; AQI updated.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Idea: GETS EVERYTHING READY, then keeps the clock ticking.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Important Step: Cleaning the Road Network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Problem: When we cut the map to our study area, some roads get CUT OFF and become 'islands' (disconnected).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Imagine: A small road piece with NO connection to the rest of the road network.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Vehicles placed there CANNOT move anywhere (stuck forever).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Solution: Find the BIGGEST connected road network, keep it. Remove small 'islands' (isolated fragments).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WHY: Keeps vehicles moving realistically on a connected road system.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7" name=""/>
          <p:cNvPicPr/>
          <p:nvPr/>
        </p:nvPicPr>
        <p:blipFill>
          <a:blip r:embed="rId1"/>
          <a:stretch/>
        </p:blipFill>
        <p:spPr>
          <a:xfrm>
            <a:off x="2286000" y="3868200"/>
            <a:ext cx="4587840" cy="27612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 The ON/OFF Switch: 'use_traffic_data'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Simple Question: Do we want to use REAL traffic data, or made-up traffic?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use_traffic_data = 1 → YES, use REAL traffic from traffic_counts.csv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use_traffic_data = 0 → NO, use a SMALL RANDOM default fleet (90 vehicles), scattered over all road types → much less traffic, weaker/diffuse pollution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It's just an ON/OFF switch (toggle). Set to 1 in the model.  Normal mode = 1 (real CSV data); 0 = sparse random test fleet.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Idea: Easy way to choose realistic vs. simple traffic.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 traffic_counts.csv – Real Traffic Survey Data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What it is: A spreadsheet of REAL traffic counts for Penang roads.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Contains ~2540 road entries with how many cars/buses/lorries/motorcycles pass.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Each row tells us: Road Name + Road Type + Length + Vehicle Counts (4 types).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Purpose: Makes the simulation start with REALISTIC traffic, not random guesses.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Idea: Input DATA (facts about Penang traffic).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Understanding the CSV Columns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road_name: Name of the road (e.g. Jalan Masjid Negeri)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highway: Road TYPE (trunk, primary, secondary, tertiary, residential...)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length_m: How long the road is (in metres)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cars, buses, lorries, motorcycles: How MANY of each were counted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 road type matters: If a road has no name, we can still estimate by its TYPE.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4" name=""/>
          <p:cNvPicPr/>
          <p:nvPr/>
        </p:nvPicPr>
        <p:blipFill>
          <a:blip r:embed="rId1"/>
          <a:stretch/>
        </p:blipFill>
        <p:spPr>
          <a:xfrm>
            <a:off x="228600" y="3657600"/>
            <a:ext cx="8705160" cy="2286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Traffic Data Becomes Vehicles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1: Read traffic_counts.csv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2: For EACH road on the Penang map, decide: Use EXACT name match OR use AVERAGE by road type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3: Work out HOW MANY vehicles should be on that road segment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4: Create vehicle AGENTS (cars/bikes/buses/lorries) on those roads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360"/>
              </a:spcBef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5: Vehicles start moving on the road network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7" name=""/>
          <p:cNvPicPr/>
          <p:nvPr/>
        </p:nvPicPr>
        <p:blipFill>
          <a:blip r:embed="rId1"/>
          <a:stretch/>
        </p:blipFill>
        <p:spPr>
          <a:xfrm>
            <a:off x="1371600" y="3251520"/>
            <a:ext cx="6540120" cy="86328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108" name=""/>
          <p:cNvPicPr/>
          <p:nvPr/>
        </p:nvPicPr>
        <p:blipFill>
          <a:blip r:embed="rId2"/>
          <a:stretch/>
        </p:blipFill>
        <p:spPr>
          <a:xfrm>
            <a:off x="2743200" y="4531320"/>
            <a:ext cx="5335200" cy="27838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2 – Two Ways to Find Traffic Counts (Analogy: Phone Book)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A – EXACT MATCH (Preferred): Look up road by its EXACT name.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Analogy: Like looking up 'Jalan Masjid Negeri' in a phone book → get its exact numbers.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OPTION B – BY ROAD TYPE (Fallback): If NO name match, group by highway type.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Analogy: If unknown street name, use AVERAGE for all 'trunk' roads (or 'primary', etc.)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WHY: Some GIS road segments have missing names. This way ALL roads still get traffic (plausible, not zero).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 Example: Exact Match vs Road-Type Average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EXAMPLE 1 – Exact Match: Road named 'Jalan Masjid Negeri' (trunk) in CSV has 638 cars, 33 buses, 55 lorries, 374 motorcycles → Use THESE exact numbers.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EXAMPLE 2 – No Name Match: An unnamed road segment is TYPE 'trunk' → Take AVERAGE of ALL trunk roads in CSV → Apply that average to this unnamed segment.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RULE: Try EXACT match FIRST. If no match → use ROAD TYPE average.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RESULT: Realistic where known, reasonable where unknown.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3 – From Traffic Counts to Vehicle Numbers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Traffic counts are 'how many pass per road' (survey numbers).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GIS splits roads into SHORT segments. We need how many vehicles to put on EACH segment.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 adjust based on: Segment LENGTH + Road TYPE SPEED (how fast vehicles travel).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Longer/slower roads can 'hold' more vehicles at a time than very short fast roads.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Simple Idea: Convert total counts → estimate vehicles present on that road segment at a given time.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Simple Example: Fractional Carry (Avoid Losing Vehicles)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Calculation gives decimals: e.g. 2.7 vehicles for a road segment.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 CANNOT create 0.7 of a vehicle agent – we can only create whole vehicles.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Solution: Create 2 vehicles on THIS segment, CARRY FORWARD 0.7 to the NEXT road segment.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Next segment does: its own calculation + 0.7 carried over.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WHY: If we just rounded DOWN (truncated) everywhere, we would LOSE many vehicles (especially on many short segments). Carrying remainders preserves the TOTAL fleet.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STEP 4 – Create Vehicle Agents on the Map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 now have a list of 'spots' (locations on roads) for each vehicle type (cars, motorcycles, buses, lorries).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 creates ONE vehicle AGENT at each spot (car_random, motorbike_random, bus_random, lorry_random).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These are the INDIVIDUAL vehicles that will move in the simulation.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Scale &amp; Cap: Can scale all by 'fleet_scale' (keeps same mix). Capped by 'max_vehicles' to keep it running smoothly (proportionally reduced to preserve mix).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 agents/traffic.gaml – The Vehicles That Move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1480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Purpose: Defines how vehicles BEHAVE (move) on the road network.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Vehicles are AGENTS: Each car/bike/bus/lorry is an individual that follows rules.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Movement: Travel along roads (network-constrained), follow road paths, move step-by-step over time.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Speed depends on ROAD TYPE (trunk faster than residential, etc.)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Idea: This is the TRAFFIC LAYER – vehicles moving around Penang.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1" name=""/>
          <p:cNvPicPr/>
          <p:nvPr/>
        </p:nvPicPr>
        <p:blipFill>
          <a:blip r:embed="rId1"/>
          <a:stretch/>
        </p:blipFill>
        <p:spPr>
          <a:xfrm>
            <a:off x="4800600" y="2286000"/>
            <a:ext cx="4038120" cy="26031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8. agents/pollution.gaml – From Traffic to Pollution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1480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Purpose: Takes traffic ACTIVITY and turns it into AIR POLLUTION representation.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Core Chain: TRAFFIC ACTIVITY → EMISSIONS → POLLUTION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Where vehicles move (especially busy roads), pollution builds up/spreads.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Represented as a SPATIAL POLLUTION FIELD (pollution levels across the map area).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Creates POLLUTION HOTSPOTS (areas with higher pollution intensity).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Simplified &amp; educational (focuses on cause–effect, not full atmospheric chemistry).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4" name=""/>
          <p:cNvPicPr/>
          <p:nvPr/>
        </p:nvPicPr>
        <p:blipFill>
          <a:blip r:embed="rId1"/>
          <a:stretch/>
        </p:blipFill>
        <p:spPr>
          <a:xfrm>
            <a:off x="4888080" y="2939040"/>
            <a:ext cx="3657240" cy="260316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Pollution Hotspots – Simple Explanation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More traffic activity (more vehicles, busier roads) → More emissions in that area.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Pollution levels vary SPATIALLY (not same everywhere on map).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Busy junctions/roads tend to show HIGHER pollution (hotspots).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Over time, pollution levels CHANGE as traffic flows change.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is shown as COLOUR GRADIENTS on the map (darker/warmer = higher pollution).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/>
          <p:nvPr/>
        </p:nvSpPr>
        <p:spPr>
          <a:xfrm>
            <a:off x="457200" y="32004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1A"/>
                </a:solidFill>
                <a:effectLst/>
                <a:uFillTx/>
                <a:latin typeface="Calibri"/>
              </a:rPr>
              <a:t>Emissions by Vehicle Type (per km)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548640" y="1005840"/>
            <a:ext cx="804600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Each vehicle emits pollutants as it travels. Per-km factors (published values):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Heat-map weight = (PM + NOx) x 3.0 x EMISSION_SCALE.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EMISSION_SCALE is the magnitude knob: lowered from 0.2 to 0.15 (about 25% less).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Electric vehicles emit only 10% of their class factor.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9" name="Table 3"/>
          <p:cNvGraphicFramePr/>
          <p:nvPr/>
        </p:nvGraphicFramePr>
        <p:xfrm>
          <a:off x="548640" y="2560320"/>
          <a:ext cx="8045640" cy="2103120"/>
        </p:xfrm>
        <a:graphic>
          <a:graphicData uri="http://schemas.openxmlformats.org/drawingml/2006/table">
            <a:tbl>
              <a:tblPr/>
              <a:tblGrid>
                <a:gridCol w="1609200"/>
                <a:gridCol w="1609200"/>
                <a:gridCol w="1609200"/>
                <a:gridCol w="1609200"/>
                <a:gridCol w="160920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Vehicle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466A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 (g/km)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466A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NOx (g/km)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466A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SO2 (g/km)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466A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PM (g/km)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466AA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motorbike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3.62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0.3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0.03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0.1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F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car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3.62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1.5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0.17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0.1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bus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13.0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7.0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0.5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0.9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2F6FF"/>
                    </a:solidFill>
                  </a:tcPr>
                </a:tc>
              </a:tr>
              <a:tr h="411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lorry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15.0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9.0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0.6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11111"/>
                          </a:solidFill>
                          <a:effectLst/>
                          <a:uFillTx/>
                          <a:latin typeface="Calibri"/>
                        </a:rPr>
                        <a:t>1.0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TextBox 4"/>
          <p:cNvSpPr/>
          <p:nvPr/>
        </p:nvSpPr>
        <p:spPr>
          <a:xfrm>
            <a:off x="548640" y="5212080"/>
            <a:ext cx="8046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Key idea: buses and lorries are the heavy polluters (PM+NOx sits ~an order of magnitude above a car). Lowering EMISSION_SCALE from 0.2 to 0.15 cuts every type by about 25%.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9. agents/visualization.gaml – What We See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1480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Purpose: Turns numbers/agents into a VISUAL MAP + CHARTS (the GUI you see).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Shows: Penang map background, roads, buildings, vehicles moving, pollution layer (colours), study boundary.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Charts: AQI/pollution over TIME (line graph).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UI: Indicators (Time), progress bars (vehicle counts/mix).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Idea: Makes the invisible (pollution levels) VISIBLE on screen.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"/>
          <p:cNvPicPr/>
          <p:nvPr/>
        </p:nvPicPr>
        <p:blipFill>
          <a:blip r:embed="rId1"/>
          <a:stretch/>
        </p:blipFill>
        <p:spPr>
          <a:xfrm>
            <a:off x="4800600" y="2743200"/>
            <a:ext cx="3720600" cy="26413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Buildings &amp; Visuals (For Clarity)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Buildings loaded from shapefile to show urban area (city context).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Given small depth/varied textures to look nicer on map (visual only, not affecting simulation).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Helps us recognise areas (George Town/Penang urban layout).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 &amp; AQI (How We Track Changes Over Time)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Simulation runs STEP-BY-STEP (time passes in simulation).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Clock updates on screen (shows current simulation time).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AQI (Air Quality Indicator): Tracks MAXIMUM pollution level in the study area at intervals.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Plotted as a LINE GRAPH over time (shows trends: when does pollution go up/down?).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Idea: See HOW pollution changes over TIME, not just a single snapshot.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Simple Summary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PenangAir.gaml = Starts everything (entry point).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global_vars.gaml = The control panel (settings).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main.gaml = Loads GIS data, cleans roads, builds vehicles, runs the clock.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agents/ folder holds traffic, pollution, and visualization behaviours.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traffic_counts.csv = Real traffic numbers (input data).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traffic.gaml = Vehicles move on roads (traffic).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pollution.gaml = Traffic → creates pollution (impact).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visualization.gaml = Shows everything on screen (what we see).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Takeaway (In One Sentence)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PenangAir uses REAL traffic data on a REAL map of Penang to show, visually, how traffic can create air pollution hotspots over time.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Q&amp;A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Thank You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2026-10-08T07:03:34Z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