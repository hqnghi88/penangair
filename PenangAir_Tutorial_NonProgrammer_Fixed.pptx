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89" r:id="rId41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on WHAT and WHY, not code syntax.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PenangAir: Explaining the Model Without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Simple Visual Explanation of All GAML Files</a:t>
            </a:r>
          </a:p>
          <a:p>
            <a:r>
              <a:t>For People Who Have Never Coded Before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We will explain using plain language, pictures/diagrams and examples.</a:t>
            </a:r>
          </a:p>
          <a:p>
            <a:pPr>
              <a:defRPr sz="1800"/>
            </a:pPr>
            <a:r>
              <a:t>Focus: WHAT each part does and WHY it exists.</a:t>
            </a:r>
          </a:p>
          <a:p>
            <a:pPr>
              <a:defRPr sz="1800"/>
            </a:pPr>
            <a:r>
              <a:t>Almost no code shown – only simple ideas, steps and analogies.</a:t>
            </a:r>
          </a:p>
          <a:p>
            <a:pPr>
              <a:defRPr sz="1800"/>
            </a:pPr>
            <a:r>
              <a:t>Use real examples from PenangAir (real roads, real traffic counts).</a:t>
            </a:r>
          </a:p>
          <a:p>
            <a:pPr>
              <a:defRPr sz="1800"/>
            </a:pPr>
            <a:r>
              <a:t>Follow the story: Real Map → Traffic → Pollution → Visuals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Big Picture (In Simple Words)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PenangAir simulates traffic and air pollution on a REAL map of Penang.</a:t>
            </a:r>
          </a:p>
          <a:p>
            <a:pPr>
              <a:defRPr sz="1800"/>
            </a:pPr>
            <a:r>
              <a:t>It asks: 'If traffic increases, where might pollution hotspots appear?'</a:t>
            </a:r>
          </a:p>
          <a:p>
            <a:pPr>
              <a:defRPr sz="1800"/>
            </a:pPr>
            <a:r>
              <a:t>It is made of many smaller parts working together.</a:t>
            </a:r>
          </a:p>
          <a:p>
            <a:pPr>
              <a:defRPr sz="1800"/>
            </a:pPr>
            <a:r>
              <a:t>Main Idea: Traffic activity → Creates emissions → Leads to pollution → We see it on the map.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4 Main Groups of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CONTROL (Settings): global_vars.gaml – What rules/values to use</a:t>
            </a:r>
          </a:p>
          <a:p>
            <a:pPr>
              <a:defRPr sz="1800"/>
            </a:pPr>
            <a:r>
              <a:t>2. MAP &amp; GIS (in main.gaml): Loads the real Penang map</a:t>
            </a:r>
          </a:p>
          <a:p>
            <a:pPr>
              <a:defRPr sz="1800"/>
            </a:pPr>
            <a:r>
              <a:t>3. SETUP &amp; TIMING (Orchestration): PenangAir.gaml + main.gaml – Starts and runs everything</a:t>
            </a:r>
          </a:p>
          <a:p>
            <a:pPr>
              <a:defRPr sz="1800"/>
            </a:pPr>
            <a:r>
              <a:t>4. BEHAVIOURS (Agents): traffic, pollution, visualization – Who does what and what we see</a:t>
            </a:r>
          </a:p>
          <a:p>
            <a:pPr>
              <a:defRPr sz="1800"/>
            </a:pPr>
            <a:r>
              <a:t>5. INPUT DATA (includes/): Roads (shapefiles) + Traffic counts (traffic_counts.csv)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global_vars.gaml – The Control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Analogy: Like a car's dashboard/settings (controls you can adjust).</a:t>
            </a:r>
          </a:p>
          <a:p>
            <a:pPr>
              <a:defRPr sz="1800"/>
            </a:pPr>
            <a:r>
              <a:t>Purpose: Keeps ALL numbers/settings in one central place.</a:t>
            </a:r>
          </a:p>
          <a:p>
            <a:pPr>
              <a:defRPr sz="1800"/>
            </a:pPr>
            <a:r>
              <a:t>Examples: How fast time runs, study area size, max vehicles, labels for charts.</a:t>
            </a:r>
          </a:p>
          <a:p>
            <a:pPr>
              <a:defRPr sz="1800"/>
            </a:pPr>
            <a:r>
              <a:t>WHY: Easy to test 'what-if' (change one number, whole model changes).</a:t>
            </a:r>
          </a:p>
          <a:p>
            <a:pPr>
              <a:defRPr sz="1800"/>
            </a:pPr>
            <a:r>
              <a:t>Key Idea: Separates SETTINGS from LOGIC.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main.gaml – Loading the Real Map &amp; GIS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Analogy: Loading a Google Map of Penang before placing cars.</a:t>
            </a:r>
          </a:p>
          <a:p>
            <a:pPr>
              <a:defRPr sz="1800"/>
            </a:pPr>
            <a:r>
              <a:t>Reads real GIS map files (roads, buildings) from includes/ folder.</a:t>
            </a:r>
          </a:p>
          <a:p>
            <a:pPr>
              <a:defRPr sz="1800"/>
            </a:pPr>
            <a:r>
              <a:t>Creates the ROAD NETWORK (roads + intersections) that vehicles can travel on.</a:t>
            </a:r>
          </a:p>
          <a:p>
            <a:pPr>
              <a:defRPr sz="1800"/>
            </a:pPr>
            <a:r>
              <a:t>Defines the study area boundary (the area we are looking at).</a:t>
            </a:r>
          </a:p>
          <a:p>
            <a:pPr>
              <a:defRPr sz="1800"/>
            </a:pPr>
            <a:r>
              <a:t>Key Idea: Simulation happens on REAL geography, not a flat grid.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PenangAir.gaml – The Main Model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Analogy: The 'master folder/conductor' that brings everyone together.</a:t>
            </a:r>
          </a:p>
          <a:p>
            <a:pPr>
              <a:defRPr sz="1800"/>
            </a:pPr>
            <a:r>
              <a:t>Connects all parts: settings + map + setup + agents.</a:t>
            </a:r>
          </a:p>
          <a:p>
            <a:pPr>
              <a:defRPr sz="1800"/>
            </a:pPr>
            <a:r>
              <a:t>Defines EXPERIMENTS – the different ways to run the model (interactive GUI).</a:t>
            </a:r>
          </a:p>
          <a:p>
            <a:pPr>
              <a:defRPr sz="1800"/>
            </a:pPr>
            <a:r>
              <a:t>This is the file you OPEN in GAMA to start the simulation.</a:t>
            </a:r>
          </a:p>
          <a:p>
            <a:pPr>
              <a:defRPr sz="1800"/>
            </a:pPr>
            <a:r>
              <a:t>Key Idea: The ENTRY POINT (starting door) to run everything.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main.gaml – Setup, Clean-Up &amp; Timing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Analogy: Like setting up a road network + placing cars BEFORE pressing PLAY.</a:t>
            </a:r>
          </a:p>
          <a:p>
            <a:pPr>
              <a:defRPr sz="1800"/>
            </a:pPr>
            <a:r>
              <a:t>Runs ONCE at start (Initialisation). Then runs repeatedly over time.</a:t>
            </a:r>
          </a:p>
          <a:p>
            <a:pPr>
              <a:defRPr sz="1800"/>
            </a:pPr>
            <a:r>
              <a:t>Main Jobs: Centre map on study area, load roads/buildings, clean road network, create vehicles, keep time &amp; AQI updated.</a:t>
            </a:r>
          </a:p>
          <a:p>
            <a:pPr>
              <a:defRPr sz="1800"/>
            </a:pPr>
            <a:r>
              <a:t>Key Idea: GETS EVERYTHING READY, then keeps the clock ticking.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Important Step: Cleaning the Road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Problem: When we cut the map to our study area, some roads get CUT OFF and become 'islands' (disconnected).</a:t>
            </a:r>
          </a:p>
          <a:p>
            <a:pPr>
              <a:defRPr sz="1800"/>
            </a:pPr>
            <a:r>
              <a:t>Imagine: A small road piece with NO connection to the rest of the road network.</a:t>
            </a:r>
          </a:p>
          <a:p>
            <a:pPr>
              <a:defRPr sz="1800"/>
            </a:pPr>
            <a:r>
              <a:t>Vehicles placed there CANNOT move anywhere (stuck forever).</a:t>
            </a:r>
          </a:p>
          <a:p>
            <a:pPr>
              <a:defRPr sz="1800"/>
            </a:pPr>
            <a:r>
              <a:t>Solution: Find the BIGGEST connected road network, keep it. Remove small 'islands' (isolated fragments).</a:t>
            </a:r>
          </a:p>
          <a:p>
            <a:pPr>
              <a:defRPr sz="1800"/>
            </a:pPr>
            <a:r>
              <a:t>WHY: Keeps vehicles moving realistically on a connected road system.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The ON/OFF Switch: 'use_traffic_data'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Simple Question: Do we want to use REAL traffic data, or made-up traffic?</a:t>
            </a:r>
          </a:p>
          <a:p>
            <a:pPr>
              <a:defRPr sz="1800"/>
            </a:pPr>
            <a:r>
              <a:t>use_traffic_data = 1 → YES, use REAL traffic from traffic_counts.csv</a:t>
            </a:r>
          </a:p>
          <a:p>
            <a:pPr>
              <a:defRPr sz="1800"/>
            </a:pPr>
            <a:r>
              <a:t>use_traffic_data = 0 → NO, use a SMALL RANDOM default fleet (90 vehicles), scattered over all road types → much less traffic, weaker/diffuse pollution</a:t>
            </a:r>
          </a:p>
          <a:p>
            <a:pPr>
              <a:defRPr sz="1800"/>
            </a:pPr>
            <a:r>
              <a:t>It's just an ON/OFF switch (toggle). Set to 1 in the model.  Normal mode = 1 (real CSV data); 0 = sparse random test fleet.</a:t>
            </a:r>
          </a:p>
          <a:p>
            <a:pPr>
              <a:defRPr sz="1800"/>
            </a:pPr>
            <a:r>
              <a:t>Key Idea: Easy way to choose realistic vs. simple traffic.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traffic_counts.csv – Real Traffic Survey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What it is: A spreadsheet of REAL traffic counts for Penang roads.</a:t>
            </a:r>
          </a:p>
          <a:p>
            <a:pPr>
              <a:defRPr sz="1800"/>
            </a:pPr>
            <a:r>
              <a:t>Contains ~2540 road entries with how many cars/buses/lorries/motorcycles pass.</a:t>
            </a:r>
          </a:p>
          <a:p>
            <a:pPr>
              <a:defRPr sz="1800"/>
            </a:pPr>
            <a:r>
              <a:t>Each row tells us: Road Name + Road Type + Length + Vehicle Counts (4 types).</a:t>
            </a:r>
          </a:p>
          <a:p>
            <a:pPr>
              <a:defRPr sz="1800"/>
            </a:pPr>
            <a:r>
              <a:t>Purpose: Makes the simulation start with REALISTIC traffic, not random guesses.</a:t>
            </a:r>
          </a:p>
          <a:p>
            <a:pPr>
              <a:defRPr sz="1800"/>
            </a:pPr>
            <a:r>
              <a:t>Key Idea: Input DATA (facts about Penang traffic).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Understanding the CSV Columns (Simple Terms)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road_name: Name of the road (e.g. Jalan Masjid Negeri)</a:t>
            </a:r>
          </a:p>
          <a:p>
            <a:pPr>
              <a:defRPr sz="1800"/>
            </a:pPr>
            <a:r>
              <a:t>highway: Road TYPE (trunk, primary, secondary, tertiary, residential...)</a:t>
            </a:r>
          </a:p>
          <a:p>
            <a:pPr>
              <a:defRPr sz="1800"/>
            </a:pPr>
            <a:r>
              <a:t>length_m: How long the road is (in metres)</a:t>
            </a:r>
          </a:p>
          <a:p>
            <a:pPr>
              <a:defRPr sz="1800"/>
            </a:pPr>
            <a:r>
              <a:t>cars, buses, lorries, motorcycles: How MANY of each were counted</a:t>
            </a:r>
          </a:p>
          <a:p>
            <a:pPr>
              <a:defRPr sz="1800"/>
            </a:pPr>
            <a:r>
              <a:t>WHY road type matters: If a road has no name, we can still estimate by its TYPE.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Traffic Data Becomes Vehicles (Big Picture)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STEP 1: Read traffic_counts.csv</a:t>
            </a:r>
          </a:p>
          <a:p>
            <a:pPr>
              <a:defRPr sz="1800"/>
            </a:pPr>
            <a:r>
              <a:t>STEP 2: For EACH road on the Penang map, decide: Use EXACT name match OR use AVERAGE by road type</a:t>
            </a:r>
          </a:p>
          <a:p>
            <a:pPr>
              <a:defRPr sz="1800"/>
            </a:pPr>
            <a:r>
              <a:t>STEP 3: Work out HOW MANY vehicles should be on that road segment</a:t>
            </a:r>
          </a:p>
          <a:p>
            <a:pPr>
              <a:defRPr sz="1800"/>
            </a:pPr>
            <a:r>
              <a:t>STEP 4: Create vehicle AGENTS (cars/bikes/buses/lorries) on those roads</a:t>
            </a:r>
          </a:p>
          <a:p>
            <a:pPr>
              <a:defRPr sz="1800"/>
            </a:pPr>
            <a:r>
              <a:t>STEP 5: Vehicles start moving on the road network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 – Two Ways to Find Traffic Counts (Analogy: Phone Book)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OPTION A – EXACT MATCH (Preferred): Look up road by its EXACT name.</a:t>
            </a:r>
          </a:p>
          <a:p>
            <a:pPr>
              <a:defRPr sz="1800"/>
            </a:pPr>
            <a:r>
              <a:t>Analogy: Like looking up 'Jalan Masjid Negeri' in a phone book → get its exact numbers.</a:t>
            </a:r>
          </a:p>
          <a:p>
            <a:pPr>
              <a:defRPr sz="1800"/>
            </a:pPr>
            <a:r>
              <a:t>OPTION B – BY ROAD TYPE (Fallback): If NO name match, group by highway type.</a:t>
            </a:r>
          </a:p>
          <a:p>
            <a:pPr>
              <a:defRPr sz="1800"/>
            </a:pPr>
            <a:r>
              <a:t>Analogy: If unknown street name, use AVERAGE for all 'trunk' roads (or 'primary', etc.)</a:t>
            </a:r>
          </a:p>
          <a:p>
            <a:pPr>
              <a:defRPr sz="1800"/>
            </a:pPr>
            <a:r>
              <a:t>WHY: Some GIS road segments have missing names. This way ALL roads still get traffic (plausible, not zero).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 Example: Exact Match vs Road-Type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EXAMPLE 1 – Exact Match: Road named 'Jalan Masjid Negeri' (trunk) in CSV has 638 cars, 33 buses, 55 lorries, 374 motorcycles → Use THESE exact numbers.</a:t>
            </a:r>
          </a:p>
          <a:p>
            <a:pPr>
              <a:defRPr sz="1800"/>
            </a:pPr>
            <a:r>
              <a:t>EXAMPLE 2 – No Name Match: An unnamed road segment is TYPE 'trunk' → Take AVERAGE of ALL trunk roads in CSV → Apply that average to this unnamed segment.</a:t>
            </a:r>
          </a:p>
          <a:p>
            <a:pPr>
              <a:defRPr sz="1800"/>
            </a:pPr>
            <a:r>
              <a:t>RULE: Try EXACT match FIRST. If no match → use ROAD TYPE average.</a:t>
            </a:r>
          </a:p>
          <a:p>
            <a:pPr>
              <a:defRPr sz="1800"/>
            </a:pPr>
            <a:r>
              <a:t>RESULT: Realistic where known, reasonable where unknown.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 – From Traffic Counts to Vehicle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Traffic counts are 'how many pass per road' (survey numbers).</a:t>
            </a:r>
          </a:p>
          <a:p>
            <a:pPr>
              <a:defRPr sz="1800"/>
            </a:pPr>
            <a:r>
              <a:t>GIS splits roads into SHORT segments. We need how many vehicles to put on EACH segment.</a:t>
            </a:r>
          </a:p>
          <a:p>
            <a:pPr>
              <a:defRPr sz="1800"/>
            </a:pPr>
            <a:r>
              <a:t>We adjust based on: Segment LENGTH + Road TYPE SPEED (how fast vehicles travel).</a:t>
            </a:r>
          </a:p>
          <a:p>
            <a:pPr>
              <a:defRPr sz="1800"/>
            </a:pPr>
            <a:r>
              <a:t>Longer/slower roads can 'hold' more vehicles at a time than very short fast roads.</a:t>
            </a:r>
          </a:p>
          <a:p>
            <a:pPr>
              <a:defRPr sz="1800"/>
            </a:pPr>
            <a:r>
              <a:t>Simple Idea: Convert total counts → estimate vehicles present on that road segment at a given time.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Simple Example: Fractional Carry (Avoid Losing Vehicles)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Calculation gives decimals: e.g. 2.7 vehicles for a road segment.</a:t>
            </a:r>
          </a:p>
          <a:p>
            <a:pPr>
              <a:defRPr sz="1800"/>
            </a:pPr>
            <a:r>
              <a:t>We CANNOT create 0.7 of a vehicle agent – we can only create whole vehicles.</a:t>
            </a:r>
          </a:p>
          <a:p>
            <a:pPr>
              <a:defRPr sz="1800"/>
            </a:pPr>
            <a:r>
              <a:t>Solution: Create 2 vehicles on THIS segment, CARRY FORWARD 0.7 to the NEXT road segment.</a:t>
            </a:r>
          </a:p>
          <a:p>
            <a:pPr>
              <a:defRPr sz="1800"/>
            </a:pPr>
            <a:r>
              <a:t>Next segment does: its own calculation + 0.7 carried over.</a:t>
            </a:r>
          </a:p>
          <a:p>
            <a:pPr>
              <a:defRPr sz="1800"/>
            </a:pPr>
            <a:r>
              <a:t>WHY: If we just rounded DOWN (truncated) everywhere, we would LOSE many vehicles (especially on many short segments). Carrying remainders preserves the TOTAL fleet.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 – Create Vehicle Agents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We now have a list of 'spots' (locations on roads) for each vehicle type (cars, motorcycles, buses, lorries).</a:t>
            </a:r>
          </a:p>
          <a:p>
            <a:pPr>
              <a:defRPr sz="1800"/>
            </a:pPr>
            <a:r>
              <a:t>Model creates ONE vehicle AGENT at each spot (car_random, motorbike_random, bus_random, lorry_random).</a:t>
            </a:r>
          </a:p>
          <a:p>
            <a:pPr>
              <a:defRPr sz="1800"/>
            </a:pPr>
            <a:r>
              <a:t>These are the INDIVIDUAL vehicles that will move in the simulation.</a:t>
            </a:r>
          </a:p>
          <a:p>
            <a:pPr>
              <a:defRPr sz="1800"/>
            </a:pPr>
            <a:r>
              <a:t>Scale &amp; Cap: Can scale all by 'fleet_scale' (keeps same mix). Capped by 'max_vehicles' to keep it running smoothly (proportionally reduced to preserve mix).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agents/traffic.gaml – The Vehicles That Move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Purpose: Defines how vehicles BEHAVE (move) on the road network.</a:t>
            </a:r>
          </a:p>
          <a:p>
            <a:pPr>
              <a:defRPr sz="1800"/>
            </a:pPr>
            <a:r>
              <a:t>Vehicles are AGENTS: Each car/bike/bus/lorry is an individual that follows rules.</a:t>
            </a:r>
          </a:p>
          <a:p>
            <a:pPr>
              <a:defRPr sz="1800"/>
            </a:pPr>
            <a:r>
              <a:t>Movement: Travel along roads (network-constrained), follow road paths, move step-by-step over time.</a:t>
            </a:r>
          </a:p>
          <a:p>
            <a:pPr>
              <a:defRPr sz="1800"/>
            </a:pPr>
            <a:r>
              <a:t>Speed depends on ROAD TYPE (trunk faster than residential, etc.)</a:t>
            </a:r>
          </a:p>
          <a:p>
            <a:pPr>
              <a:defRPr sz="1800"/>
            </a:pPr>
            <a:r>
              <a:t>Key Idea: This is the TRAFFIC LAYER – vehicles moving around Penang.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agents/pollution.gaml – From Traffic to Pollution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Purpose: Takes traffic ACTIVITY and turns it into AIR POLLUTION representation.</a:t>
            </a:r>
          </a:p>
          <a:p>
            <a:pPr>
              <a:defRPr sz="1800"/>
            </a:pPr>
            <a:r>
              <a:t>Core Chain: TRAFFIC ACTIVITY → EMISSIONS → POLLUTION</a:t>
            </a:r>
          </a:p>
          <a:p>
            <a:pPr>
              <a:defRPr sz="1800"/>
            </a:pPr>
            <a:r>
              <a:t>Where vehicles move (especially busy roads), pollution builds up/spreads.</a:t>
            </a:r>
          </a:p>
          <a:p>
            <a:pPr>
              <a:defRPr sz="1800"/>
            </a:pPr>
            <a:r>
              <a:t>Represented as a SPATIAL POLLUTION FIELD (pollution levels across the map area).</a:t>
            </a:r>
          </a:p>
          <a:p>
            <a:pPr>
              <a:defRPr sz="1800"/>
            </a:pPr>
            <a:r>
              <a:t>Creates POLLUTION HOTSPOTS (areas with higher pollution intensity).</a:t>
            </a:r>
          </a:p>
          <a:p>
            <a:pPr>
              <a:defRPr sz="1800"/>
            </a:pPr>
            <a:r>
              <a:t>Simplified &amp; educational (focuses on cause–effect, not full atmospheric chemistry).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Pollution Hotspots – Simple Explanation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More traffic activity (more vehicles, busier roads) → More emissions in that area.</a:t>
            </a:r>
          </a:p>
          <a:p>
            <a:pPr>
              <a:defRPr sz="1800"/>
            </a:pPr>
            <a:r>
              <a:t>Pollution levels vary SPATIALLY (not same everywhere on map).</a:t>
            </a:r>
          </a:p>
          <a:p>
            <a:pPr>
              <a:defRPr sz="1800"/>
            </a:pPr>
            <a:r>
              <a:t>Busy junctions/roads tend to show HIGHER pollution (hotspots).</a:t>
            </a:r>
          </a:p>
          <a:p>
            <a:pPr>
              <a:defRPr sz="1800"/>
            </a:pPr>
            <a:r>
              <a:t>Over time, pollution levels CHANGE as traffic flows change.</a:t>
            </a:r>
          </a:p>
          <a:p>
            <a:pPr>
              <a:defRPr sz="1800"/>
            </a:pPr>
            <a:r>
              <a:t>This is shown as COLOUR GRADIENTS on the map (darker/warmer = higher pollution).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Emissions by Vehicle Type (per km)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046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22222"/>
                </a:solidFill>
              </a:defRPr>
            </a:pPr>
            <a:r>
              <a:t>Each vehicle emits pollutants as it travels. Per-km factors (published values):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Heat-map weight = (PM + NOx) x 3.0 x EMISSION_SCALE.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EMISSION_SCALE is the magnitude knob: lowered from 0.2 to 0.15 (about 25% less).</a:t>
            </a:r>
          </a:p>
          <a:p>
            <a:pPr>
              <a:defRPr sz="1500">
                <a:solidFill>
                  <a:srgbClr val="222222"/>
                </a:solidFill>
              </a:defRPr>
            </a:pPr>
            <a:r>
              <a:t>Electric vehicles emit only 10% of their class factor.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56032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Vehicle</a:t>
                      </a:r>
                    </a:p>
                  </a:txBody>
                  <a:tcPr>
                    <a:solidFill>
                      <a:srgbClr val="446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 (g/km)</a:t>
                      </a:r>
                    </a:p>
                  </a:txBody>
                  <a:tcPr>
                    <a:solidFill>
                      <a:srgbClr val="446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NOx (g/km)</a:t>
                      </a:r>
                    </a:p>
                  </a:txBody>
                  <a:tcPr>
                    <a:solidFill>
                      <a:srgbClr val="446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SO2 (g/km)</a:t>
                      </a:r>
                    </a:p>
                  </a:txBody>
                  <a:tcPr>
                    <a:solidFill>
                      <a:srgbClr val="446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PM (g/km)</a:t>
                      </a:r>
                    </a:p>
                  </a:txBody>
                  <a:tcPr>
                    <a:solidFill>
                      <a:srgbClr val="4466A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motorbike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3.62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3.62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bus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13.0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7.0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0.5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>
                    <a:solidFill>
                      <a:srgbClr val="F2F6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lorry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11111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1208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33333"/>
                </a:solidFill>
              </a:defRPr>
            </a:pPr>
            <a:r>
              <a:t>Key idea: buses and lorries are the heavy polluters (PM+NOx sits ~an order of magnitude above a car). Lowering EMISSION_SCALE from 0.2 to 0.15 cuts every type by about 25%.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agents/visualization.gaml – What We See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Purpose: Turns numbers/agents into a VISUAL MAP + CHARTS (the GUI you see).</a:t>
            </a:r>
          </a:p>
          <a:p>
            <a:pPr>
              <a:defRPr sz="1800"/>
            </a:pPr>
            <a:r>
              <a:t>Shows: Penang map background, roads, buildings, vehicles moving, pollution layer (colours), study boundary.</a:t>
            </a:r>
          </a:p>
          <a:p>
            <a:pPr>
              <a:defRPr sz="1800"/>
            </a:pPr>
            <a:r>
              <a:t>Charts: AQI/pollution over TIME (line graph).</a:t>
            </a:r>
          </a:p>
          <a:p>
            <a:pPr>
              <a:defRPr sz="1800"/>
            </a:pPr>
            <a:r>
              <a:t>UI: Indicators (Time), progress bars (vehicle counts/mix).</a:t>
            </a:r>
          </a:p>
          <a:p>
            <a:pPr>
              <a:defRPr sz="1800"/>
            </a:pPr>
            <a:r>
              <a:t>Key Idea: Makes the invisible (pollution levels) VISIBLE on screen.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Buildings &amp; Visuals (For Clarity)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Buildings loaded from shapefile to show urban area (city context).</a:t>
            </a:r>
          </a:p>
          <a:p>
            <a:pPr>
              <a:defRPr sz="1800"/>
            </a:pPr>
            <a:r>
              <a:t>Given small depth/varied textures to look nicer on map (visual only, not affecting simulation).</a:t>
            </a:r>
          </a:p>
          <a:p>
            <a:pPr>
              <a:defRPr sz="1800"/>
            </a:pPr>
            <a:r>
              <a:t>Helps us recognise areas (George Town/Penang urban layout).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 &amp; AQI (How We Track Changes Over Time)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Simulation runs STEP-BY-STEP (time passes in simulation).</a:t>
            </a:r>
          </a:p>
          <a:p>
            <a:pPr>
              <a:defRPr sz="1800"/>
            </a:pPr>
            <a:r>
              <a:t>Clock updates on screen (shows current simulation time).</a:t>
            </a:r>
          </a:p>
          <a:p>
            <a:pPr>
              <a:defRPr sz="1800"/>
            </a:pPr>
            <a:r>
              <a:t>AQI (Air Quality Indicator): Tracks MAXIMUM pollution level in the study area at intervals.</a:t>
            </a:r>
          </a:p>
          <a:p>
            <a:pPr>
              <a:defRPr sz="1800"/>
            </a:pPr>
            <a:r>
              <a:t>Plotted as a LINE GRAPH over time (shows trends: when does pollution go up/down?).</a:t>
            </a:r>
          </a:p>
          <a:p>
            <a:pPr>
              <a:defRPr sz="1800"/>
            </a:pPr>
            <a:r>
              <a:t>Key Idea: See HOW pollution changes over TIME, not just a single snapshot.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Full Story: Step-by-Step (Start → End)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STEP 1: Start (PenangAir.gaml) – Open model, press Run.</a:t>
            </a:r>
          </a:p>
          <a:p>
            <a:pPr>
              <a:defRPr sz="1800"/>
            </a:pPr>
            <a:r>
              <a:t>STEP 2: Load Settings (global_vars) – Read rules/numbers.</a:t>
            </a:r>
          </a:p>
          <a:p>
            <a:pPr>
              <a:defRPr sz="1800"/>
            </a:pPr>
            <a:r>
              <a:t>STEP 3: Load Map (in main.gaml) – Load real Penang roads+buildings.</a:t>
            </a:r>
          </a:p>
          <a:p>
            <a:pPr>
              <a:defRPr sz="1800"/>
            </a:pPr>
            <a:r>
              <a:t>STEP 4: Get Ready (main.gaml init) – Clean road network, prepare study area.</a:t>
            </a:r>
          </a:p>
          <a:p>
            <a:pPr>
              <a:defRPr sz="1800"/>
            </a:pPr>
            <a:r>
              <a:t>STEP 5: Load Real Traffic? Check use_traffic_data == 1 → Read traffic_counts.csv.</a:t>
            </a:r>
          </a:p>
          <a:p>
            <a:pPr>
              <a:defRPr sz="1800"/>
            </a:pPr>
            <a:r>
              <a:t>STEP 6: Create Vehicles – Spawn cars/bikes/buses/lorries on roads (by name or road type).</a:t>
            </a:r>
          </a:p>
          <a:p>
            <a:pPr>
              <a:defRPr sz="1800"/>
            </a:pPr>
            <a:r>
              <a:t>STEP 7: Press PLAY (Time Starts) – Simulation runs step-by-step.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Full Story: Step-by-Step (Runtime)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STEP 8: Traffic Moves (traffic.gaml) – Vehicles travel along roads over time (traffic flows).</a:t>
            </a:r>
          </a:p>
          <a:p>
            <a:pPr>
              <a:defRPr sz="1800"/>
            </a:pPr>
            <a:r>
              <a:t>STEP 9: Pollution Updates (pollution.gaml) – Emissions calculated from traffic → Pollution field updated → Hotspots appear/change.</a:t>
            </a:r>
          </a:p>
          <a:p>
            <a:pPr>
              <a:defRPr sz="1800"/>
            </a:pPr>
            <a:r>
              <a:t>STEP 10: Update Time &amp; AQI (main.gaml) – Clock updates, pollution trend chart updates.</a:t>
            </a:r>
          </a:p>
          <a:p>
            <a:pPr>
              <a:defRPr sz="1800"/>
            </a:pPr>
            <a:r>
              <a:t>STEP 11: Visualize (visualization.gaml) – Map, vehicles, pollution colours, charts all update in REAL-TIME.</a:t>
            </a:r>
          </a:p>
          <a:p>
            <a:pPr>
              <a:defRPr sz="1800"/>
            </a:pPr>
            <a:r>
              <a:t>STEP 12: Observe – Watch patterns emerge (cause–effect: traffic → pollution).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Cause–Effect Chain (Most Important)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REAL MAP (Geography)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REAL TRAFFIC COUNTS (CSV) → Vehicles placed on roads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VEHICLES MOVE (Traffic Flow)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TRAFFIC ACTIVITY creates EMISSIONS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EMISSIONS become AIR POLLUTION (spatial hotspots)</a:t>
            </a:r>
          </a:p>
          <a:p>
            <a:pPr>
              <a:defRPr sz="1800"/>
            </a:pPr>
            <a:r>
              <a:t>↓</a:t>
            </a:r>
          </a:p>
          <a:p>
            <a:pPr>
              <a:defRPr sz="1800"/>
            </a:pPr>
            <a:r>
              <a:t>WE SEE IT ON MAP + CHARTS (Visualization)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 in Plain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AGENTS: Individual things that act (each vehicle is an 'agent').</a:t>
            </a:r>
          </a:p>
          <a:p>
            <a:pPr>
              <a:defRPr sz="1800"/>
            </a:pPr>
            <a:r>
              <a:t>AGENT-BASED MODEL (ABM): Many simple agents follow rules → Complex patterns appear.</a:t>
            </a:r>
          </a:p>
          <a:p>
            <a:pPr>
              <a:defRPr sz="1800"/>
            </a:pPr>
            <a:r>
              <a:t>GIS: Real maps (roads/buildings) instead of imaginary grid.</a:t>
            </a:r>
          </a:p>
          <a:p>
            <a:pPr>
              <a:defRPr sz="1800"/>
            </a:pPr>
            <a:r>
              <a:t>SPATIAL: Location matters (pollution differs by place).</a:t>
            </a:r>
          </a:p>
          <a:p>
            <a:pPr>
              <a:defRPr sz="1800"/>
            </a:pPr>
            <a:r>
              <a:t>TIME-STEPPING: Simulation moves forward little by little (second by second).</a:t>
            </a:r>
          </a:p>
          <a:p>
            <a:pPr>
              <a:defRPr sz="1800"/>
            </a:pPr>
            <a:r>
              <a:t>EMERGENCE: We don't 'draw' hotspots – they appear from traffic behaviour.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These Design Choices? (Simple Reasons)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Split into many files: Easier to understand each part separately (divide &amp; explain).</a:t>
            </a:r>
          </a:p>
          <a:p>
            <a:pPr>
              <a:defRPr sz="1800"/>
            </a:pPr>
            <a:r>
              <a:t>Name-first, then road-type fallback: Uses real data where possible, fills gaps sensibly.</a:t>
            </a:r>
          </a:p>
          <a:p>
            <a:pPr>
              <a:defRPr sz="1800"/>
            </a:pPr>
            <a:r>
              <a:t>Clean network (remove islands): Prevents vehicles getting stuck unrealistically.</a:t>
            </a:r>
          </a:p>
          <a:p>
            <a:pPr>
              <a:defRPr sz="1800"/>
            </a:pPr>
            <a:r>
              <a:t>Fractional carry: Keeps total traffic numbers accurate (doesn't lose vehicles).</a:t>
            </a:r>
          </a:p>
          <a:p>
            <a:pPr>
              <a:defRPr sz="1800"/>
            </a:pPr>
            <a:r>
              <a:t>Cap total vehicles (max_vehicles): Keeps model smooth for demos (keeps proportions same).</a:t>
            </a:r>
          </a:p>
          <a:p>
            <a:pPr>
              <a:defRPr sz="1800"/>
            </a:pPr>
            <a:r>
              <a:t>use_traffic_data switch: Can test real vs. simple traffic easily.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to Look For When Running (Demo Guide)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Map loads first: See Penang roads/buildings appear.</a:t>
            </a:r>
          </a:p>
          <a:p>
            <a:pPr>
              <a:defRPr sz="1800"/>
            </a:pPr>
            <a:r>
              <a:t>2. Vehicles appear: Cars/bikes/buses/lorries placed on roads (realistic distribution).</a:t>
            </a:r>
          </a:p>
          <a:p>
            <a:pPr>
              <a:defRPr sz="1800"/>
            </a:pPr>
            <a:r>
              <a:t>3. Press Play: Vehicles start MOVING along roads.</a:t>
            </a:r>
          </a:p>
          <a:p>
            <a:pPr>
              <a:defRPr sz="1800"/>
            </a:pPr>
            <a:r>
              <a:t>4. Watch colours: Pollution layer changes colour over time (hotspots forming).</a:t>
            </a:r>
          </a:p>
          <a:p>
            <a:pPr>
              <a:defRPr sz="1800"/>
            </a:pPr>
            <a:r>
              <a:t>5. Watch chart: AQI line graph goes up/down as traffic changes.</a:t>
            </a:r>
          </a:p>
          <a:p>
            <a:pPr>
              <a:defRPr sz="1800"/>
            </a:pPr>
            <a:r>
              <a:t>6. Notice pattern: Busy roads/junctions often show higher pollution.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Simple Summary (One Sentence Per Part)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PenangAir.gaml = Starts everything (entry point).</a:t>
            </a:r>
          </a:p>
          <a:p>
            <a:pPr>
              <a:defRPr sz="1800"/>
            </a:pPr>
            <a:r>
              <a:t>global_vars.gaml = The control panel (settings).</a:t>
            </a:r>
          </a:p>
          <a:p>
            <a:pPr>
              <a:defRPr sz="1800"/>
            </a:pPr>
            <a:r>
              <a:t>main.gaml = Loads GIS data, cleans roads, builds vehicles, runs the clock.</a:t>
            </a:r>
          </a:p>
          <a:p>
            <a:pPr>
              <a:defRPr sz="1800"/>
            </a:pPr>
            <a:r>
              <a:t>agents/ folder holds traffic, pollution, and visualization behaviours.</a:t>
            </a:r>
          </a:p>
          <a:p>
            <a:pPr>
              <a:defRPr sz="1800"/>
            </a:pPr>
            <a:r>
              <a:t>traffic_counts.csv = Real traffic numbers (input data).</a:t>
            </a:r>
          </a:p>
          <a:p>
            <a:pPr>
              <a:defRPr sz="1800"/>
            </a:pPr>
            <a:r>
              <a:t>traffic.gaml = Vehicles move on roads (traffic).</a:t>
            </a:r>
          </a:p>
          <a:p>
            <a:pPr>
              <a:defRPr sz="1800"/>
            </a:pPr>
            <a:r>
              <a:t>pollution.gaml = Traffic → creates pollution (impact).</a:t>
            </a:r>
          </a:p>
          <a:p>
            <a:pPr>
              <a:defRPr sz="1800"/>
            </a:pPr>
            <a:r>
              <a:t>visualization.gaml = Shows everything on screen (what we see).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 (In One Sentence)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PenangAir uses REAL traffic data on a REAL map of Penang to show, visually, how traffic can create air pollution hotspots over time.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