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Goal: explain code logic, not just structure. Go in detail through each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Detailed section-by-section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 before reading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Umbrella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Imports build dependency 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Species = agent types used across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Experiments define interactive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Parameters exposed to GUI. fleet_scale scales CSV-derived fleet. max_vehicles caps total for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Emphasizes data-driven (CSV).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#s seconds, #mn minutes. site_4326 WGS84, converted to GAMA CRS (Mercator-like). study_area square centred at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Defaults replaced by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Separation of presentation/config.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 first, then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Orchestration order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Declaration-time CRS conversion can be off; done in init (world projection ready). Centred on site, half-size 1000m → 2km×2km.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Robustness for GIS clipping.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road_weights: edge weights often perimeter/length for routing (cost). road_network = cleaned navigable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boolean-like switch, prototyping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input data mapped to GIS roads.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csv_file reads CSV (true=has header?). matrix gives 2D access counts[col, row]? GAMA matrix: [col,row]. Header skip: first_row=1 if header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Defensive parsing: handles nil/empty cells safely (prevents conversion errors).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Builds two lookup strategies: exact name (preferred), class average (fallback). Note: 'hw in segments_by_class.keys' (keys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Bridges survey (road-level) vs GIS (segment-level).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vehicle 'spots' = candidate locations on road shapes to spawn agents. Fractional carry: distribute remainders across segments (prevents truncation loss).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Named takes CSV row. Else class mean per segment. Defaults (100,4,8,90) only if class unknown (safety fallback).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crossing_h = (segment length km) / (speed km/h) = travel time across segment (hours-like factor). Product gives approx vehicles present/on-segment at time slice. fleet_scale scales mix. Fractional part carried forward to next road segment (prevents rounding loss).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Spots collected per type (on road shapes). Speeds by OSM-like highway classes (free-flow). Used in crossing_h.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Caps total for performance. Applies SAME cap factor to all classes → preserves surveyed vehicle mix proportionally. keep_leading truncates preserving order added (deterministic).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'create ... from: list&lt;geometry&gt;' spawns one agent per spot at/near those geometries (road shapes). Updates global max_* to actual spawned counts (overwrites defaults).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bars created earlier (init order) may have held default max_val (1000/500). This updates them to REAL CSV-derived fleet so percentages display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Traffic = emission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follow roads (network-constrained).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over time drives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layer from source (traffic).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Grid-based spatial field + time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causal chain visualised.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+ map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Creates building agents from shapefile. depth gives simple 3D extrusion variation. texture picks randomly from textures[] (global_vars) for visual variety.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 each step (or as scheduled). Updates Time indicator in UI (param_indicator with lb_Time). Uses current_date/date('now').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Runs at interval every(refreshing_rate_plot) (e.g. 10 min). Takes max of instant_heatmap (max pollution intensity in spatial field at that moment). Updates AQI line chart (scaled by 10 for display). Shows pollution trend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is_electrical flag for subset of vehicles (n_* = number of EVs). Used to model EV penetration (can update UI/progress bars). Called when parameters change (scenario testing).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init order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Time-driven ABM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pipeline in one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modelling/teaching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toggle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positional mapping (must not change).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Demystifies GAML symbols.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Separation of concerns clear.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architecture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present effectively.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comprehension.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PenangAir GAMA Model – Detailed Code Walkthrough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Explaining All .gaml Files Section by Section</a:t>
            </a:r>
          </a:p>
          <a:p>
            <a:r>
              <a:t>For an Audience with Little or No GAMA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We'll Go Through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Part 1: GAMA Basics (Key Concepts You Need to Know)</a:t>
            </a:r>
          </a:p>
          <a:p>
            <a:pPr>
              <a:defRPr sz="1800">
                <a:latin typeface="Calibri"/>
              </a:defRPr>
            </a:pPr>
            <a:r>
              <a:t>Part 2: PenangAir.gaml – Main Model &amp; Experiments</a:t>
            </a:r>
          </a:p>
          <a:p>
            <a:pPr>
              <a:defRPr sz="1800">
                <a:latin typeface="Calibri"/>
              </a:defRPr>
            </a:pPr>
            <a:r>
              <a:t>Part 3: global_vars.gaml – All Parameters Explained</a:t>
            </a:r>
          </a:p>
          <a:p>
            <a:pPr>
              <a:defRPr sz="1800">
                <a:latin typeface="Calibri"/>
              </a:defRPr>
            </a:pPr>
            <a:r>
              <a:t>Part 4: loadmap.gaml + main.gaml – Setup, Init &amp; Environment</a:t>
            </a:r>
          </a:p>
          <a:p>
            <a:pPr>
              <a:defRPr sz="1800">
                <a:latin typeface="Calibri"/>
              </a:defRPr>
            </a:pPr>
            <a:r>
              <a:t>Part 5: traffic_counts.csv + load_traffic_counts() – In Full Detail</a:t>
            </a:r>
          </a:p>
          <a:p>
            <a:pPr>
              <a:defRPr sz="1800">
                <a:latin typeface="Calibri"/>
              </a:defRPr>
            </a:pPr>
            <a:r>
              <a:t>Part 6: agents/traffic.gaml – Vehicle Agents &amp; Behaviour</a:t>
            </a:r>
          </a:p>
          <a:p>
            <a:pPr>
              <a:defRPr sz="1800">
                <a:latin typeface="Calibri"/>
              </a:defRPr>
            </a:pPr>
            <a:r>
              <a:t>Part 7: agents/pollution.gaml – Emissions &amp; Pollution Modelling</a:t>
            </a:r>
          </a:p>
          <a:p>
            <a:pPr>
              <a:defRPr sz="1800">
                <a:latin typeface="Calibri"/>
              </a:defRPr>
            </a:pPr>
            <a:r>
              <a:t>Part 8: agents/visualization.gaml – GUI, Displays &amp; Charts</a:t>
            </a:r>
          </a:p>
          <a:p>
            <a:pPr>
              <a:defRPr sz="1800">
                <a:latin typeface="Calibri"/>
              </a:defRPr>
            </a:pPr>
            <a:r>
              <a:t>Part 9: Full Simulation Flow (End-to-End Execution Order)</a:t>
            </a:r>
          </a:p>
          <a:p>
            <a:pPr>
              <a:defRPr sz="1800">
                <a:latin typeface="Calibri"/>
              </a:defRPr>
            </a:pPr>
            <a:r>
              <a:t>Part 10: Key Takeaways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1: GAMA Basics (Essential Concepts)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model: Declares a GAMA model (container for code).</a:t>
            </a:r>
          </a:p>
          <a:p>
            <a:pPr>
              <a:defRPr sz="1800">
                <a:latin typeface="Calibri"/>
              </a:defRPr>
            </a:pPr>
            <a:r>
              <a:t>import: Brings other .gaml files into this model (like modules).</a:t>
            </a:r>
          </a:p>
          <a:p>
            <a:pPr>
              <a:defRPr sz="1800">
                <a:latin typeface="Calibri"/>
              </a:defRPr>
            </a:pPr>
            <a:r>
              <a:t>global { ... }: Variables/constants shared by ALL agents &amp; simulation.</a:t>
            </a:r>
          </a:p>
          <a:p>
            <a:pPr>
              <a:defRPr sz="1800">
                <a:latin typeface="Calibri"/>
              </a:defRPr>
            </a:pPr>
            <a:r>
              <a:t>species &lt;name&gt; { ... }: Defines an agent type (class of agents). Agents have attributes, actions, reflexes.</a:t>
            </a:r>
          </a:p>
          <a:p>
            <a:pPr>
              <a:defRPr sz="1800">
                <a:latin typeface="Calibri"/>
              </a:defRPr>
            </a:pPr>
            <a:r>
              <a:t>agent: Individual instance created from a species.</a:t>
            </a:r>
          </a:p>
          <a:p>
            <a:pPr>
              <a:defRPr sz="1800">
                <a:latin typeface="Calibri"/>
              </a:defRPr>
            </a:pPr>
            <a:r>
              <a:t>init { ... }: Runs ONCE at simulation start (setup/initialisation).</a:t>
            </a:r>
          </a:p>
          <a:p>
            <a:pPr>
              <a:defRPr sz="1800">
                <a:latin typeface="Calibri"/>
              </a:defRPr>
            </a:pPr>
            <a:r>
              <a:t>reflex &lt;name&gt; when: ... { ... }: Runs repeatedly each time step (behaviour over time).</a:t>
            </a:r>
          </a:p>
          <a:p>
            <a:pPr>
              <a:defRPr sz="1800">
                <a:latin typeface="Calibri"/>
              </a:defRPr>
            </a:pPr>
            <a:r>
              <a:t>action &lt;name&gt;(...) { ... }: Reusable function/method called by init/reflex/others.</a:t>
            </a:r>
          </a:p>
          <a:p>
            <a:pPr>
              <a:defRPr sz="1800">
                <a:latin typeface="Calibri"/>
              </a:defRPr>
            </a:pPr>
            <a:r>
              <a:t>geometry/shape: Spatial objects (points, lines, polygons, roads).</a:t>
            </a:r>
          </a:p>
          <a:p>
            <a:pPr>
              <a:defRPr sz="1800">
                <a:latin typeface="Calibri"/>
              </a:defRPr>
            </a:pPr>
            <a:r>
              <a:t>graph: Road/network graph for pathfinding/movement.</a:t>
            </a:r>
          </a:p>
          <a:p>
            <a:pPr>
              <a:defRPr sz="1800">
                <a:latin typeface="Calibri"/>
              </a:defRPr>
            </a:pPr>
            <a:r>
              <a:t>map, list, matrix: Data structures (key-value, arrays, tables).</a:t>
            </a:r>
          </a:p>
          <a:p>
            <a:pPr>
              <a:defRPr sz="1800">
                <a:latin typeface="Calibri"/>
              </a:defRPr>
            </a:pPr>
            <a:r>
              <a:t>csv_file/matrix: Reads CSV data into memory.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2: PenangAir.gaml – Main Entry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models/PenangAir.gaml</a:t>
            </a:r>
          </a:p>
          <a:p>
            <a:pPr>
              <a:defRPr sz="1800">
                <a:latin typeface="Calibri"/>
              </a:defRPr>
            </a:pPr>
            <a:r>
              <a:t>Role: Top-level model file. Ties ALL submodels together (conductor).</a:t>
            </a:r>
          </a:p>
          <a:p>
            <a:pPr>
              <a:defRPr sz="1800">
                <a:latin typeface="Calibri"/>
              </a:defRPr>
            </a:pPr>
            <a:r>
              <a:t>What it does: model declaration, imports/includes, defines species, defines experiments (how to RUN the model).</a:t>
            </a:r>
          </a:p>
          <a:p>
            <a:pPr>
              <a:defRPr sz="1800">
                <a:latin typeface="Calibri"/>
              </a:defRPr>
            </a:pPr>
            <a:r>
              <a:t>In GAMA, you run an 'experiment' (GUI or Batch), not just the global code.</a:t>
            </a:r>
          </a:p>
          <a:p>
            <a:pPr>
              <a:defRPr sz="1800">
                <a:latin typeface="Calibri"/>
              </a:defRPr>
            </a:pPr>
            <a:r>
              <a:t>Includes other files: global_vars, loadmap, main, agents (traffic, pollution, visualization).</a:t>
            </a:r>
          </a:p>
          <a:p>
            <a:pPr>
              <a:defRPr sz="1800">
                <a:latin typeface="Calibri"/>
              </a:defRPr>
            </a:pPr>
            <a:r>
              <a:t>Key point: This is the file opened to launch PenangAir in GAMA.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PenangAir.gaml – Imports &amp; Includes (Lines ~1–40)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model PenangAir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"global_vars.gaml"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"loadmap.gaml"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"main.gaml"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"agents/traffic.gaml"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"agents/pollution.gaml"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import "agents/visualization.gaml"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// main2.gaml reads the real survey flows from includes/traffic_counts.csv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PenangAir.gaml – Species Definitions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species study_boundary: Represents the simulation study area boundary (square geometry). Visualised as a border/area.</a:t>
            </a:r>
          </a:p>
          <a:p>
            <a:pPr>
              <a:defRPr sz="1800">
                <a:latin typeface="Calibri"/>
              </a:defRPr>
            </a:pPr>
            <a:r>
              <a:t>species progress_bar: UI element species (bar chart/progress indicators in GUI).</a:t>
            </a:r>
          </a:p>
          <a:p>
            <a:pPr>
              <a:defRPr sz="1800">
                <a:latin typeface="Calibri"/>
              </a:defRPr>
            </a:pPr>
            <a:r>
              <a:t>species param_indicator: Parameter/value indicator species (displays values like time, counts).</a:t>
            </a:r>
          </a:p>
          <a:p>
            <a:pPr>
              <a:defRPr sz="1800">
                <a:latin typeface="Calibri"/>
              </a:defRPr>
            </a:pPr>
            <a:r>
              <a:t>species line_graph_aqi: Time-series chart agent (AQI line graph).</a:t>
            </a:r>
          </a:p>
          <a:p>
            <a:pPr>
              <a:defRPr sz="1800">
                <a:latin typeface="Calibri"/>
              </a:defRPr>
            </a:pPr>
            <a:r>
              <a:t>species car, motorbike, bus, lorry: Base vehicle species (types).</a:t>
            </a:r>
          </a:p>
          <a:p>
            <a:pPr>
              <a:defRPr sz="1800">
                <a:latin typeface="Calibri"/>
              </a:defRPr>
            </a:pPr>
            <a:r>
              <a:t>species car_random, motorbike_random, bus_random, lorry_random: Instantiated vehicle agents (created from CSV-spawned spots).</a:t>
            </a:r>
          </a:p>
          <a:p>
            <a:pPr>
              <a:defRPr sz="1800">
                <a:latin typeface="Calibri"/>
              </a:defRPr>
            </a:pPr>
            <a:r>
              <a:t>Note: Some species defined here/organised with agent files. They represent agents drawn/managed in visualization.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PenangAir.gaml – Experiments (How We Run 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Experiment = Runnable configuration in GAMA (defines UI, parameters, displays).</a:t>
            </a:r>
          </a:p>
          <a:p>
            <a:pPr>
              <a:defRPr sz="1800">
                <a:latin typeface="Calibri"/>
              </a:defRPr>
            </a:pPr>
            <a:r>
              <a:t>expLearn (Learning): Simplified/educational experiment setup.</a:t>
            </a:r>
          </a:p>
          <a:p>
            <a:pPr>
              <a:defRPr sz="1800">
                <a:latin typeface="Calibri"/>
              </a:defRPr>
            </a:pPr>
            <a:r>
              <a:t>expProj (Project): Main project/demo experiment.</a:t>
            </a:r>
          </a:p>
          <a:p>
            <a:pPr>
              <a:defRPr sz="1800">
                <a:latin typeface="Calibri"/>
              </a:defRPr>
            </a:pPr>
            <a:r>
              <a:t>expRoadNetwork (Debug/View): Road network inspection experiment.</a:t>
            </a:r>
          </a:p>
          <a:p>
            <a:pPr>
              <a:defRPr sz="1800">
                <a:latin typeface="Calibri"/>
              </a:defRPr>
            </a:pPr>
            <a:r>
              <a:t>Each experiment can have: parameters (user-tunable), output (displays, monitors, charts), init overrides.</a:t>
            </a:r>
          </a:p>
          <a:p>
            <a:pPr>
              <a:defRPr sz="1800">
                <a:latin typeface="Calibri"/>
              </a:defRPr>
            </a:pPr>
            <a:r>
              <a:t>GUI experiments show interactive map + controls. Batch runs headless.</a:t>
            </a:r>
          </a:p>
          <a:p>
            <a:pPr>
              <a:defRPr sz="1800">
                <a:latin typeface="Calibri"/>
              </a:defRPr>
            </a:pPr>
            <a:r>
              <a:t>Parameters let users test 'what-if' scenarios without editing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PenangAir.gaml – experiment expLearn (Parameters)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experiment expLearn type: gui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"Time" var: step init: 1#s;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"Traffic light interval" var: traffic_light_interval init: 60#s;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"Refresh rate (chart)" var: refreshing_rate_plot init: 10#mn;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"Max vehicles (cap)" var: max_vehicles init: 5000;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"Fleet scale (from CSV)" var: fleet_scale init: 1.0;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parameter "Study half-size (m)" var: study_half_size min: 300.0 max: 3000.0 init: 1000.0;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... displays ...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PenangAir.gaml – expProj (CSV-Driven Fleet)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expProj states: 'The fleet comes from includes/traffic_counts.csv via main.gaml load_traffic_counts'.</a:t>
            </a:r>
          </a:p>
          <a:p>
            <a:pPr>
              <a:defRPr sz="1800">
                <a:latin typeface="Calibri"/>
              </a:defRPr>
            </a:pPr>
            <a:r>
              <a:t>Comment notes: max_cars/max_buses/max_lorries/max_motorbikes come from survey (not hardcoded).</a:t>
            </a:r>
          </a:p>
          <a:p>
            <a:pPr>
              <a:defRPr sz="1800">
                <a:latin typeface="Calibri"/>
              </a:defRPr>
            </a:pPr>
            <a:r>
              <a:t>Parameter 'Fleet scale (from CSV)' (fleet_scale) multiplies spawned vehicles (keeps vehicle mix).</a:t>
            </a:r>
          </a:p>
          <a:p>
            <a:pPr>
              <a:defRPr sz="1800">
                <a:latin typeface="Calibri"/>
              </a:defRPr>
            </a:pPr>
            <a:r>
              <a:t>Cap: 'Max vehicles' limits total spots to keep interactive on modest hardware.</a:t>
            </a:r>
          </a:p>
          <a:p>
            <a:pPr>
              <a:defRPr sz="1800">
                <a:latin typeface="Calibri"/>
              </a:defRPr>
            </a:pPr>
            <a:r>
              <a:t>Purpose: Uses REAL traffic counts (survey-based) for realism + educational clarity.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3: global_vars.gaml – Global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models/global_vars.gaml</a:t>
            </a:r>
          </a:p>
          <a:p>
            <a:pPr>
              <a:defRPr sz="1800">
                <a:latin typeface="Calibri"/>
              </a:defRPr>
            </a:pPr>
            <a:r>
              <a:t>Purpose: Central configuration (single source of truth).</a:t>
            </a:r>
          </a:p>
          <a:p>
            <a:pPr>
              <a:defRPr sz="1800">
                <a:latin typeface="Calibri"/>
              </a:defRPr>
            </a:pPr>
            <a:r>
              <a:t>Contains: Time, study area, fleet/traffic params, vehicle mix defaults, visualization/UI, pollution params, labels, textures.</a:t>
            </a:r>
          </a:p>
          <a:p>
            <a:pPr>
              <a:defRPr sz="1800">
                <a:latin typeface="Calibri"/>
              </a:defRPr>
            </a:pPr>
            <a:r>
              <a:t>Why: Easier to tweak, test scenarios, teach (separates config from logic).</a:t>
            </a:r>
          </a:p>
          <a:p>
            <a:pPr>
              <a:defRPr sz="1800">
                <a:latin typeface="Calibri"/>
              </a:defRPr>
            </a:pPr>
            <a:r>
              <a:t>All globals here accessible by every agent/file (imported early).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global_vars.gaml – Time, Study Area, Refresh (Lines ~1–60)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global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step &lt;- 1 #s;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refreshing_rate_plot &lt;- 10 #mn;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traffic_light_interval &lt;- 180 #s;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point site_4326 &lt;- {100.316083, 5.409611};  // Penang site (lon,lat)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point site_merc;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study_half_size &lt;- 1000.0;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geometry study_area;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int max_vehicles &lt;- 5000;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fleet_scale &lt;- 1.0;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...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global_vars.gaml – Fleet Defaults &amp; Vehicle Mix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max_cars, max_motorbikes, max_bus, max_lorries: Initial/default counts (declared defaults).</a:t>
            </a:r>
          </a:p>
          <a:p>
            <a:pPr>
              <a:defRPr sz="1800">
                <a:latin typeface="Calibri"/>
              </a:defRPr>
            </a:pPr>
            <a:r>
              <a:t>Important: These are OVERWRITTEN by load_traffic_counts() after reading CSV (real survey values).</a:t>
            </a:r>
          </a:p>
          <a:p>
            <a:pPr>
              <a:defRPr sz="1800">
                <a:latin typeface="Calibri"/>
              </a:defRPr>
            </a:pPr>
            <a:r>
              <a:t>Comments: 'max_* now come from the survey (load_traffic_counts)'.</a:t>
            </a:r>
          </a:p>
          <a:p>
            <a:pPr>
              <a:defRPr sz="1800">
                <a:latin typeface="Calibri"/>
              </a:defRPr>
            </a:pPr>
            <a:r>
              <a:t>fleet_scale: Multiplier applied to CSV-derived vehicle counts (keeps proportional mix).</a:t>
            </a:r>
          </a:p>
          <a:p>
            <a:pPr>
              <a:defRPr sz="1800">
                <a:latin typeface="Calibri"/>
              </a:defRPr>
            </a:pPr>
            <a:r>
              <a:t>max_vehicles: Global cap on total spawned vehicle spots (performance control).</a:t>
            </a:r>
          </a:p>
          <a:p>
            <a:pPr>
              <a:defRPr sz="1800">
                <a:latin typeface="Calibri"/>
              </a:defRPr>
            </a:pPr>
            <a:r>
              <a:t>electric_ratio: Target/share for electric vehicles (used later by update_vehicle_population).</a:t>
            </a:r>
          </a:p>
          <a:p>
            <a:pPr>
              <a:defRPr sz="1800">
                <a:latin typeface="Calibri"/>
              </a:defRPr>
            </a:pPr>
            <a:r>
              <a:t>n_motorbikes, n_bus etc.: Counts of EVs by type (updated dynamically).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global_vars.gaml – Visualization, Labels, Textures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Textures list (building textures): Used in building creation for visual variety.</a:t>
            </a:r>
          </a:p>
          <a:p>
            <a:pPr>
              <a:defRPr sz="1800">
                <a:latin typeface="Calibri"/>
              </a:defRPr>
            </a:pPr>
            <a:r>
              <a:t>Label strings (lb_...): e.g. lb_cars, lb_motobike, lb_bus, lb_lorries, lb_rates_EG, lb_Time – UI/chart labels.</a:t>
            </a:r>
          </a:p>
          <a:p>
            <a:pPr>
              <a:defRPr sz="1800">
                <a:latin typeface="Calibri"/>
              </a:defRPr>
            </a:pPr>
            <a:r>
              <a:t>progress_bar, param_indicator, line_graph_aqi: Lists/containers for UI agent instances (created in visualization).</a:t>
            </a:r>
          </a:p>
          <a:p>
            <a:pPr>
              <a:defRPr sz="1800">
                <a:latin typeface="Calibri"/>
              </a:defRPr>
            </a:pPr>
            <a:r>
              <a:t>road_weights: map&lt;road, float&gt; – edge weights for road network graph (used for routing/graph building).</a:t>
            </a:r>
          </a:p>
          <a:p>
            <a:pPr>
              <a:defRPr sz="1800">
                <a:latin typeface="Calibri"/>
              </a:defRPr>
            </a:pPr>
            <a:r>
              <a:t>road_network: graph – built from roads (as_edge_graph).</a:t>
            </a:r>
          </a:p>
          <a:p>
            <a:pPr>
              <a:defRPr sz="1800">
                <a:latin typeface="Calibri"/>
              </a:defRPr>
            </a:pPr>
            <a:r>
              <a:t>Purpose: Keeps UI strings/visual assets centralised.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4a: loadmap.gaml – GIS Environment 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models/loadmap.gaml</a:t>
            </a:r>
          </a:p>
          <a:p>
            <a:pPr>
              <a:defRPr sz="1800">
                <a:latin typeface="Calibri"/>
              </a:defRPr>
            </a:pPr>
            <a:r>
              <a:t>Role: Loads geographic data &amp; prepares spatial environment BEFORE agents created.</a:t>
            </a:r>
          </a:p>
          <a:p>
            <a:pPr>
              <a:defRPr sz="1800">
                <a:latin typeface="Calibri"/>
              </a:defRPr>
            </a:pPr>
            <a:r>
              <a:t>Loads shapefiles: roads_shape_file, buildings_shape_file (from ../includes/).</a:t>
            </a:r>
          </a:p>
          <a:p>
            <a:pPr>
              <a:defRPr sz="1800">
                <a:latin typeface="Calibri"/>
              </a:defRPr>
            </a:pPr>
            <a:r>
              <a:t>Sets world shape: envelope(roads_shape_file) (bounding box of study).</a:t>
            </a:r>
          </a:p>
          <a:p>
            <a:pPr>
              <a:defRPr sz="1800">
                <a:latin typeface="Calibri"/>
              </a:defRPr>
            </a:pPr>
            <a:r>
              <a:t>Builds spatial layers: roads, buildings (as GAMA geometries/agents later).</a:t>
            </a:r>
          </a:p>
          <a:p>
            <a:pPr>
              <a:defRPr sz="1800">
                <a:latin typeface="Calibri"/>
              </a:defRPr>
            </a:pPr>
            <a:r>
              <a:t>Prepares environment for road network navigation (graph built in main).</a:t>
            </a:r>
          </a:p>
          <a:p>
            <a:pPr>
              <a:defRPr sz="1800">
                <a:latin typeface="Calibri"/>
              </a:defRPr>
            </a:pPr>
            <a:r>
              <a:t>Key: Simulation is map-based (Penang GIS), not abstract grid.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4b: main.gaml – Init Sequence Explained 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models/main.gaml</a:t>
            </a:r>
          </a:p>
          <a:p>
            <a:pPr>
              <a:defRPr sz="1800">
                <a:latin typeface="Calibri"/>
              </a:defRPr>
            </a:pPr>
            <a:r>
              <a:t>init { ... }: Runs once at start. Execution order is critical:</a:t>
            </a:r>
          </a:p>
          <a:p>
            <a:pPr>
              <a:defRPr sz="1800">
                <a:latin typeface="Calibri"/>
              </a:defRPr>
            </a:pPr>
            <a:r>
              <a:t>Step 1: Convert site_4326 (WGS84 Lon/Lat) → site_merc (projected CRS) using to_GAMA_CRS. Define study_area (square).</a:t>
            </a:r>
          </a:p>
          <a:p>
            <a:pPr>
              <a:defRPr sz="1800">
                <a:latin typeface="Calibri"/>
              </a:defRPr>
            </a:pPr>
            <a:r>
              <a:t>Step 2: Load roads/buildings from shapefiles into agents/lists (road, building species).</a:t>
            </a:r>
          </a:p>
          <a:p>
            <a:pPr>
              <a:defRPr sz="1800">
                <a:latin typeface="Calibri"/>
              </a:defRPr>
            </a:pPr>
            <a:r>
              <a:t>Step 3: Network cleaning – Keep ONLY main connected component (remove isolated road fragments). Build road_network graph + road_weights.</a:t>
            </a:r>
          </a:p>
          <a:p>
            <a:pPr>
              <a:defRPr sz="1800">
                <a:latin typeface="Calibri"/>
              </a:defRPr>
            </a:pPr>
            <a:r>
              <a:t>Step 4: Create study_boundary, create building agents with depth/texture.</a:t>
            </a:r>
          </a:p>
          <a:p>
            <a:pPr>
              <a:defRPr sz="1800">
                <a:latin typeface="Calibri"/>
              </a:defRPr>
            </a:pPr>
            <a:r>
              <a:t>Step 5: If (tttt == 1): call load_traffic_counts() to spawn CSV-based vehicles.</a:t>
            </a:r>
          </a:p>
          <a:p>
            <a:pPr>
              <a:defRPr sz="1800">
                <a:latin typeface="Calibri"/>
              </a:defRPr>
            </a:pPr>
            <a:r>
              <a:t>Step 6: Other setup (visualization/UI elements created elsewhere or after).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Step 1: CRS Conversion &amp; Study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site_merc &lt;- to_GAMA_CRS(site_4326, "EPSG:4326").location;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study_area &lt;- square(2.0 * study_half_size) at_location site_merc;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write "Study area: " + string(int(2.0*study_half_size))+" m x "+...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Step 3: Keep Main Connected Road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Problem: Cropping shapefile to study box cuts streets → creates isolated road fragments (disconnected).</a:t>
            </a:r>
          </a:p>
          <a:p>
            <a:pPr>
              <a:defRPr sz="1800">
                <a:latin typeface="Calibri"/>
              </a:defRPr>
            </a:pPr>
            <a:r>
              <a:t>If vehicles spawn on an isolated fragment with no path to network, they can never route/move → stuck forever.</a:t>
            </a:r>
          </a:p>
          <a:p>
            <a:pPr>
              <a:defRPr sz="1800">
                <a:latin typeface="Calibri"/>
              </a:defRPr>
            </a:pPr>
            <a:r>
              <a:t>Solution: Build full network graph (as_edge_graph(road)). Find connected_components_of(full_network, true).</a:t>
            </a:r>
          </a:p>
          <a:p>
            <a:pPr>
              <a:defRPr sz="1800">
                <a:latin typeface="Calibri"/>
              </a:defRPr>
            </a:pPr>
            <a:r>
              <a:t>Keep the LARGEST connected component (main_roads = component with max length).</a:t>
            </a:r>
          </a:p>
          <a:p>
            <a:pPr>
              <a:defRPr sz="1800">
                <a:latin typeface="Calibri"/>
              </a:defRPr>
            </a:pPr>
            <a:r>
              <a:t>Remove others (road - main_roads) with do die; (drops isolated fragments).</a:t>
            </a:r>
          </a:p>
          <a:p>
            <a:pPr>
              <a:defRPr sz="1800">
                <a:latin typeface="Calibri"/>
              </a:defRPr>
            </a:pPr>
            <a:r>
              <a:t>Purpose: Ensure vehicle routing works (all spawned vehicles have navigable network).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Build Road Network Graph &amp; Weights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graph full_network &lt;- as_edge_graph(road);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 main_roads &lt;- [];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loop comp over: connected_components_of(full_network, true)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(length(comp) &gt; length(main_roads)) { main_roads &lt;- list(comp);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dropped_roads &lt;- length(road)-length(main_roads);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(dropped_roads&gt;0) { ask (road - main_roads) { do die; }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road_weights &lt;- road as_map (each::each.shape.perimeter);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road_network &lt;- as_edge_graph(road);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Toggle Flag: int tttt &lt;- 1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Declared: int tttt &lt;- 1; (line ~40 in main.gaml)</a:t>
            </a:r>
          </a:p>
          <a:p>
            <a:pPr>
              <a:defRPr sz="1800">
                <a:latin typeface="Calibri"/>
              </a:defRPr>
            </a:pPr>
            <a:r>
              <a:t>Usage: if (tttt = 1) { do load_traffic_counts; } (after network setup)</a:t>
            </a:r>
          </a:p>
          <a:p>
            <a:pPr>
              <a:defRPr sz="1800">
                <a:latin typeface="Calibri"/>
              </a:defRPr>
            </a:pPr>
            <a:r>
              <a:t>Meaning: ON/OFF switch for loading real traffic from CSV.</a:t>
            </a:r>
          </a:p>
          <a:p>
            <a:pPr>
              <a:defRPr sz="1800">
                <a:latin typeface="Calibri"/>
              </a:defRPr>
            </a:pPr>
            <a:r>
              <a:t>tttt == 1: Load includes/traffic_counts.csv (real survey counts). Spawns fleet by road name/class (realistic).</a:t>
            </a:r>
          </a:p>
          <a:p>
            <a:pPr>
              <a:defRPr sz="1800">
                <a:latin typeface="Calibri"/>
              </a:defRPr>
            </a:pPr>
            <a:r>
              <a:t>tttt == 0: SKIP CSV loading. Model uses other/default vehicle spawning (synthetic/random).</a:t>
            </a:r>
          </a:p>
          <a:p>
            <a:pPr>
              <a:defRPr sz="1800">
                <a:latin typeface="Calibri"/>
              </a:defRPr>
            </a:pPr>
            <a:r>
              <a:t>Type: Temporary/test toggle (informal name). Better name: use_real_traffic_counts or load_csv_fleet.</a:t>
            </a:r>
          </a:p>
          <a:p>
            <a:pPr>
              <a:defRPr sz="1800">
                <a:latin typeface="Calibri"/>
              </a:defRPr>
            </a:pPr>
            <a:r>
              <a:t>Current value 1 → CSV is USED in this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5a: traffic_counts.csv – Input Data (Structure)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Path: includes/traffic_counts.csv (2541 lines including header).</a:t>
            </a:r>
          </a:p>
          <a:p>
            <a:pPr>
              <a:defRPr sz="1800">
                <a:latin typeface="Calibri"/>
              </a:defRPr>
            </a:pPr>
            <a:r>
              <a:t>Purpose: Per-road observed traffic counts (survey flows). Drives realistic initial fleet.</a:t>
            </a:r>
          </a:p>
          <a:p>
            <a:pPr>
              <a:defRPr sz="1800">
                <a:latin typeface="Calibri"/>
              </a:defRPr>
            </a:pPr>
            <a:r>
              <a:t>Columns (positional, MUST NOT change – noted in comments):</a:t>
            </a:r>
          </a:p>
          <a:p>
            <a:pPr>
              <a:defRPr sz="1800">
                <a:latin typeface="Calibri"/>
              </a:defRPr>
            </a:pPr>
            <a:r>
              <a:t>  0: road_name  1: highway (road class/type)</a:t>
            </a:r>
          </a:p>
          <a:p>
            <a:pPr>
              <a:defRPr sz="1800">
                <a:latin typeface="Calibri"/>
              </a:defRPr>
            </a:pPr>
            <a:r>
              <a:t>  2: length_m   3: cars</a:t>
            </a:r>
          </a:p>
          <a:p>
            <a:pPr>
              <a:defRPr sz="1800">
                <a:latin typeface="Calibri"/>
              </a:defRPr>
            </a:pPr>
            <a:r>
              <a:t>  4: buses      5: lorries</a:t>
            </a:r>
          </a:p>
          <a:p>
            <a:pPr>
              <a:defRPr sz="1800">
                <a:latin typeface="Calibri"/>
              </a:defRPr>
            </a:pPr>
            <a:r>
              <a:t>  6: motorcycles</a:t>
            </a:r>
          </a:p>
          <a:p>
            <a:pPr>
              <a:defRPr sz="1800">
                <a:latin typeface="Calibri"/>
              </a:defRPr>
            </a:pPr>
            <a:r>
              <a:t>Matching: First by exact road_name. Fallback: average by highway class if no name match.</a:t>
            </a:r>
          </a:p>
          <a:p>
            <a:pPr>
              <a:defRPr sz="1800">
                <a:latin typeface="Calibri"/>
              </a:defRPr>
            </a:pPr>
            <a:r>
              <a:t>Used by: action load_traffic_counts() in main.gaml.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load_traffic_counts() – Read CSV &amp; Handle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action load_traffic_counts(){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file counts_file &lt;- csv_file("../includes/traffic_counts.csv", true);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matrix counts &lt;- matrix(counts_file);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int first_row &lt;- 0;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(string(counts[0,0]) = "road_name") { first_row &lt;- 1;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// Build lookup maps by road name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map&lt;string,int&gt; cars_by_name &lt;- map&lt;string,int&gt;();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... buses_by_name, lorries_by_name, bikes_by_name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// Aggregates by road CLASS (fallback)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map&lt;string,int&gt; cars_by_class &lt;- map&lt;string,int&gt;();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... + segments_by_class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Helper: count_of(string s) – Safe String→Int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count_of (string s)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(s = nil) { return 0;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string t &lt;- trim(s);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(t = "") { return 0;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return int(t);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load_traffic_counts() – Index CSV by Name &amp; By Highway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(counts.rows &gt; first_row)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loop i from: first_row to: counts.rows-1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string nm &lt;- string(counts[0,i]);  // road_name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string hw &lt;- string(counts[1,i]);  // highway/class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int c_n &lt;- count_of(string(counts[3,i])); // cars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int b_n &lt;- count_of(string(counts[4,i])); // buses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int l_n &lt;- count_of(string(counts[5,i])); // lorries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int m_n &lt;- count_of(string(counts[6,i])); // motorcycles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cars_by_name[nm] &lt;- c_n; buses_by_name[nm]&lt;-b_n;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lorries_by_name[nm]&lt;-l_n; bikes_by_name[nm]&lt;-m_n;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// Accumulate per-class totals + segment counts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bool have_class &lt;- hw in segments_by_class.keys;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if (have_class)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segments_by_class[hw] &lt;- segments_by_class[hw]+1;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cars_by_class[hw] &lt;- cars_by_class[hw]+c_n; ...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} else { ... init class sums to 1 segment ...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Name Matching + Class Fallback?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GIS road network splits streets into many short segments (different geometries).</a:t>
            </a:r>
          </a:p>
          <a:p>
            <a:pPr>
              <a:defRPr sz="1800">
                <a:latin typeface="Calibri"/>
              </a:defRPr>
            </a:pPr>
            <a:r>
              <a:t>CSV gives traffic counts per road NAME (surveyed road). Some segments may have empty/missing road_name or different naming.</a:t>
            </a:r>
          </a:p>
          <a:p>
            <a:pPr>
              <a:defRPr sz="1800">
                <a:latin typeface="Calibri"/>
              </a:defRPr>
            </a:pPr>
            <a:r>
              <a:t>Named match: Most accurate (uses surveyed count for that road).</a:t>
            </a:r>
          </a:p>
          <a:p>
            <a:pPr>
              <a:defRPr sz="1800">
                <a:latin typeface="Calibri"/>
              </a:defRPr>
            </a:pPr>
            <a:r>
              <a:t>Fallback (unnamed/unmatched): Compute mean per highway class: average_cars_class = cars_by_class[hw] / segments_by_class[hw].</a:t>
            </a:r>
          </a:p>
          <a:p>
            <a:pPr>
              <a:defRPr sz="1800">
                <a:latin typeface="Calibri"/>
              </a:defRPr>
            </a:pPr>
            <a:r>
              <a:t>Prevents unmatched road segments getting 0 (or nothing). Gives reasonable estimate by road type (primary/trunk/residential...).</a:t>
            </a:r>
          </a:p>
          <a:p>
            <a:pPr>
              <a:defRPr sz="1800">
                <a:latin typeface="Calibri"/>
              </a:defRPr>
            </a:pPr>
            <a:r>
              <a:t>Trade-off: Realistic where named, plausible by class where unnamed.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Spawning Vehicles: Spots Lists + Fractional Carry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list&lt;geometry&gt; car_spots &lt;- list&lt;geometry&gt;();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list&lt;geometry&gt; bike_spots &lt;- list&lt;geometry&gt;();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list&lt;geometry&gt; bus_spots &lt;- list&lt;geometry&gt;();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list&lt;geometry&gt; lorry_spots &lt;- list&lt;geometry&gt;();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// Fractional carry between segments (rounding down loses fleet)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carry_car &lt;- 0.0; float carry_bike &lt;- 0.0;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carry_bus &lt;- 0.0; float carry_lorry &lt;- 0.0;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matched_roads &lt;- 0; int default_roads &lt;- 0;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Per-Road Segment: Get Volumes (Named or Class Average)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loop r over: road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bool named &lt;- (r.road_name!=nil and r.road_name!="" and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          r.road_name in cars_by_name.keys);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(named){ matched_roads++; } else { default_roads++;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int c_vol&lt;-0,b_vol&lt;-0,l_vol&lt;-0,m_vol&lt;-0;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(named)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c_vol &lt;- cars_by_name[r.road_name];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b_vol &lt;- buses_by_name[r.road_name];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l_vol &lt;- lorries_by_name[r.road_name];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m_vol &lt;- bikes_by_name[r.road_name];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 else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bool counted &lt;- r.highway in segments_by_class.keys;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int n_seg &lt;- counted ? segments_by_class[r.highway]:1;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c_vol &lt;- counted ? int(cars_by_class[r.highway]/n_seg):100;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b_vol &lt;- counted ? int(buses_by_class[r.highway]/n_seg):4;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l_vol &lt;- counted ? int(lorries_by_class[r.highway]/n_seg):8;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m_vol &lt;- counted ? int(bikes_by_class[r.highway]/n_seg):90;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...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Crossing Time + Converting Counts to Vehicles per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crossing_h &lt;- (r.shape.perimeter / 1000.0) / class_speed_of(r.highway);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raw_car   &lt;- c_vol * crossing_h * fleet_scale + carry_car;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raw_bike  &lt;- m_vol * crossing_h * fleet_scale + carry_bike;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raw_bus   &lt;- b_vol * crossing_h * fleet_scale + carry_bus;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raw_lorry &lt;- l_vol * crossing_h * fleet_scale + carry_lorry;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n_car   &lt;- int(raw_car);   carry_car   &lt;- raw_car   - n_car;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n_bike  &lt;- int(raw_bike);  carry_bike  &lt;- raw_bike  - n_bike;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n_bus   &lt;- int(raw_bus);   carry_bus   &lt;- raw_bus   - n_bus;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n_lorry &lt;- int(raw_lorry); carry_lorry &lt;- raw_lorry - n_lorry;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Spots + class_speed_of() (Free-Flow Speeds)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(n_car&gt;0)   loop j from:1 to:n_car   { add r.shape to: car_spots;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(n_bike&gt;0)  loop j from:1 to:n_bike  { add r.shape to: bike_spots;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(n_bus&gt;0)   loop j from:1 to:n_bus   { add r.shape to: bus_spots;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(n_lorry&gt;0) loop j from:1 to:n_lorry { add r.shape to: lorry_spots;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// class_speed_of (km/h)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float class_speed_of (string highway){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(highway="motorway"){return 80.0;}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(highway="trunk"){return 50.0;}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(highway="primary"){return 40.0;}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(highway="secondary"){return 35.0;}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(highway="tertiary"){return 30.0;}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(highway="living_street"){return 15.0;}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return 25.0; // fallback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 Down to max_vehicles (Preserve Mix)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int total_spots &lt;- length(car_spots)+length(bike_spots)+length(bus_spots)+length(lorry_spots);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write "Survey counts: "+string(matched_roads)+" matched, "+string(default_roads)+" class defaults | raw spots: "+string(total_spots);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(total_spots &gt; max_vehicles and total_spots&gt;0){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cap &lt;- max_vehicles * 1.0 / total_spots;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car_spots   &lt;- keep_leading(car_spots,   int(length(car_spots)*cap));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bike_spots  &lt;- keep_leading(bike_spots,  int(length(bike_spots)*cap));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bus_spots   &lt;- keep_leading(bus_spots,   int(length(bus_spots)*cap));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lorry_spots &lt;- keep_leading(lorry_spots, int(length(lorry_spots)*cap));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list&lt;geometry&gt; keep_leading(list&lt;geometry&gt; source,int n){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list&lt;geometry&gt; out &lt;- list&lt;geometry&gt;();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int last &lt;- min(n,length(source))-1;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(last&gt;=0){ loop i from:0 to:last { add source[i] to:out; }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return out;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Vehicle Agents &amp; Update Fleet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create car_random      from: car_spots   with: [type:: "car"];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create motorbike_random from: bike_spots  with: [type:: "motorbike"];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create bus_random      from: bus_spots   with: [type:: "bus"];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create lorry_random    from: lorry_spots with: [type:: "lorry"];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max_cars       &lt;- max(1, length(car_random));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max_motorbikes &lt;- max(1, length(motorbike_random));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max_bus        &lt;- max(1, length(bus_random));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max_lorries    &lt;- max(1, length(lorry_random));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write "Fleet from traffic_counts.csv: " + string(max_cars)+" cars, "+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string(max_motorbikes)+" motorbikes, "+string(max_bus)+" buses, "+string(max_lorries)+" lorries.";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Sync UI Progress Bars with Real Fleet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if (length(progress_bar)&gt;0){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first(progress_bar where (each.title = lb_rates_EG)){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max_val &lt;- max_cars+max_bus+max_motorbikes+max_lorries;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first(progress_bar where (each.title = lb_cars)){ max_val &lt;- max_cars;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first(progress_bar where (each.title = lb_motobike)){ max_val &lt;- max_motorbikes;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first(progress_bar where (each.title = lb_bus)){ max_val &lt;- max_bus;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first(progress_bar where (each.title = lb_lorries)){ max_val &lt;- max_lorries;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// Debug: verify bars scaled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ask progress_bar { write ("bar +title+ max_val="+string(max_val));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6a: agents/traffic.gaml – Vehicle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models/agents/traffic.gaml</a:t>
            </a:r>
          </a:p>
          <a:p>
            <a:pPr>
              <a:defRPr sz="1800">
                <a:latin typeface="Calibri"/>
              </a:defRPr>
            </a:pPr>
            <a:r>
              <a:t>Purpose: Defines vehicle species + movement/behaviour on road network.</a:t>
            </a:r>
          </a:p>
          <a:p>
            <a:pPr>
              <a:defRPr sz="1800">
                <a:latin typeface="Calibri"/>
              </a:defRPr>
            </a:pPr>
            <a:r>
              <a:t>Vehicle hierarchy: Base 'vehicle' species (common attributes), then specific types (car, motorbike, bus, lorry) and/or *_random variants used.</a:t>
            </a:r>
          </a:p>
          <a:p>
            <a:pPr>
              <a:defRPr sz="1800">
                <a:latin typeface="Calibri"/>
              </a:defRPr>
            </a:pPr>
            <a:r>
              <a:t>Behaviour: Movement along road network, speed by road class/conditions, path following, possibly routing between points.</a:t>
            </a:r>
          </a:p>
          <a:p>
            <a:pPr>
              <a:defRPr sz="1800">
                <a:latin typeface="Calibri"/>
              </a:defRPr>
            </a:pPr>
            <a:r>
              <a:t>Link to Pollution: Vehicle activity/movement can be used to drive emissions (referenced by pollution.gaml).</a:t>
            </a:r>
          </a:p>
          <a:p>
            <a:pPr>
              <a:defRPr sz="1800">
                <a:latin typeface="Calibri"/>
              </a:defRPr>
            </a:pPr>
            <a:r>
              <a:t>Spawning source: *_random created from CSV spots (main.gaml).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traffic.gaml – Vehicle Species (Key Attributes)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Common vehicle attributes (conceptual):</a:t>
            </a:r>
          </a:p>
          <a:p>
            <a:pPr>
              <a:defRPr sz="1800">
                <a:latin typeface="Calibri"/>
              </a:defRPr>
            </a:pPr>
            <a:r>
              <a:t>  - location/shape on road network</a:t>
            </a:r>
          </a:p>
          <a:p>
            <a:pPr>
              <a:defRPr sz="1800">
                <a:latin typeface="Calibri"/>
              </a:defRPr>
            </a:pPr>
            <a:r>
              <a:t>  - speed, max_speed (by type/class)</a:t>
            </a:r>
          </a:p>
          <a:p>
            <a:pPr>
              <a:defRPr sz="1800">
                <a:latin typeface="Calibri"/>
              </a:defRPr>
            </a:pPr>
            <a:r>
              <a:t>  - current road/edge, target/route</a:t>
            </a:r>
          </a:p>
          <a:p>
            <a:pPr>
              <a:defRPr sz="1800">
                <a:latin typeface="Calibri"/>
              </a:defRPr>
            </a:pPr>
            <a:r>
              <a:t>  - type: 'car','motorbike','bus','lorry'</a:t>
            </a:r>
          </a:p>
          <a:p>
            <a:pPr>
              <a:defRPr sz="1800">
                <a:latin typeface="Calibri"/>
              </a:defRPr>
            </a:pPr>
            <a:r>
              <a:t>  - is_electrical (EV flag) – used by update_vehicle_population()</a:t>
            </a:r>
          </a:p>
          <a:p>
            <a:pPr>
              <a:defRPr sz="1800">
                <a:latin typeface="Calibri"/>
              </a:defRPr>
            </a:pPr>
            <a:r>
              <a:t>  - fuel/emission-related attributes (if linked to pollution)</a:t>
            </a:r>
          </a:p>
          <a:p>
            <a:pPr>
              <a:defRPr sz="1800">
                <a:latin typeface="Calibri"/>
              </a:defRPr>
            </a:pPr>
            <a:r>
              <a:t>Random variants (car_random etc.): Created at init from spots (placed on road geometries). Move over time via reflexes.</a:t>
            </a:r>
          </a:p>
          <a:p>
            <a:pPr>
              <a:defRPr sz="1800">
                <a:latin typeface="Calibri"/>
              </a:defRPr>
            </a:pPr>
            <a:r>
              <a:t>Movement: Uses road_network/graph (built in main) for navigation along edges/roads.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traffic.gaml – Movement Behaviour (Reflexes/Actions)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Vehicles act each time step (reflex) to move along road network.</a:t>
            </a:r>
          </a:p>
          <a:p>
            <a:pPr>
              <a:defRPr sz="1800">
                <a:latin typeface="Calibri"/>
              </a:defRPr>
            </a:pPr>
            <a:r>
              <a:t>Network-constrained movement: follow road edges (shapes), can traverse segments, possibly choose routes/intersections.</a:t>
            </a:r>
          </a:p>
          <a:p>
            <a:pPr>
              <a:defRPr sz="1800">
                <a:latin typeface="Calibri"/>
              </a:defRPr>
            </a:pPr>
            <a:r>
              <a:t>Speed influenced by: road class (matches class_speed_of logic), traffic density, possibly traffic lights (traffic_light_interval referenced).</a:t>
            </a:r>
          </a:p>
          <a:p>
            <a:pPr>
              <a:defRPr sz="1800">
                <a:latin typeface="Calibri"/>
              </a:defRPr>
            </a:pPr>
            <a:r>
              <a:t>Goal: Represent traffic flow/activity over time (source of movement).</a:t>
            </a:r>
          </a:p>
          <a:p>
            <a:pPr>
              <a:defRPr sz="1800">
                <a:latin typeface="Calibri"/>
              </a:defRPr>
            </a:pPr>
            <a:r>
              <a:t>Note (from comments): Survey counts include lorries separately (CSV column 5).</a:t>
            </a:r>
          </a:p>
          <a:p>
            <a:pPr>
              <a:defRPr sz="1800">
                <a:latin typeface="Calibri"/>
              </a:defRPr>
            </a:pPr>
            <a:r>
              <a:t>Behaviour kept rule-based (ABM) to show emergence, simplified for teaching.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7: agents/pollution.gaml – Pollution &amp; Emissions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models/agents/pollution.gaml</a:t>
            </a:r>
          </a:p>
          <a:p>
            <a:pPr>
              <a:defRPr sz="1800">
                <a:latin typeface="Calibri"/>
              </a:defRPr>
            </a:pPr>
            <a:r>
              <a:t>Purpose: Models emissions from traffic + represents air pollution spatially.</a:t>
            </a:r>
          </a:p>
          <a:p>
            <a:pPr>
              <a:defRPr sz="1800">
                <a:latin typeface="Calibri"/>
              </a:defRPr>
            </a:pPr>
            <a:r>
              <a:t>Core idea: Traffic Activity → Emissions → Pollution Representation (spatial field/layer).</a:t>
            </a:r>
          </a:p>
          <a:p>
            <a:pPr>
              <a:defRPr sz="1800">
                <a:latin typeface="Calibri"/>
              </a:defRPr>
            </a:pPr>
            <a:r>
              <a:t>Represents pollutants (grid/field or agent-based layer) over study area.</a:t>
            </a:r>
          </a:p>
          <a:p>
            <a:pPr>
              <a:defRPr sz="1800">
                <a:latin typeface="Calibri"/>
              </a:defRPr>
            </a:pPr>
            <a:r>
              <a:t>Can track intensity over space/time → produces pollution layer for visualization + AQI-related values.</a:t>
            </a:r>
          </a:p>
          <a:p>
            <a:pPr>
              <a:defRPr sz="1800">
                <a:latin typeface="Calibri"/>
              </a:defRPr>
            </a:pPr>
            <a:r>
              <a:t>Simplified representation (educational/demo) vs full atmospheric dispersion/chemistry.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pollution.gaml – How Pollution Is Represented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Spatial representation: Often uses a grid of cells (pollutant grid/field) covering study_area. Each cell holds pollutant concentration/value.</a:t>
            </a:r>
          </a:p>
          <a:p>
            <a:pPr>
              <a:defRPr sz="1800">
                <a:latin typeface="Calibri"/>
              </a:defRPr>
            </a:pPr>
            <a:r>
              <a:t>Emission sources: Vehicles (traffic) emit when moving/active → add pollutant to nearby cells/along roads.</a:t>
            </a:r>
          </a:p>
          <a:p>
            <a:pPr>
              <a:defRPr sz="1800">
                <a:latin typeface="Calibri"/>
              </a:defRPr>
            </a:pPr>
            <a:r>
              <a:t>Dynamics over time: Concentrations can persist, decay/dissipate, or be updated each step (reflex).</a:t>
            </a:r>
          </a:p>
          <a:p>
            <a:pPr>
              <a:defRPr sz="1800">
                <a:latin typeface="Calibri"/>
              </a:defRPr>
            </a:pPr>
            <a:r>
              <a:t>Spatial variation: Creates hotspots (high concentration) near busy roads/intersections.</a:t>
            </a:r>
          </a:p>
          <a:p>
            <a:pPr>
              <a:defRPr sz="1800">
                <a:latin typeface="Calibri"/>
              </a:defRPr>
            </a:pPr>
            <a:r>
              <a:t>Output to visualization: Grid/cells rendered with colour gradients (heatmap-like) to show intensity.</a:t>
            </a:r>
          </a:p>
          <a:p>
            <a:pPr>
              <a:defRPr sz="1800">
                <a:latin typeface="Calibri"/>
              </a:defRPr>
            </a:pPr>
            <a:r>
              <a:t>AQI linkage: calculate_aqi reflex in main.gaml uses max(instant_heatmap) to update line_graph_aqi (AQI over time).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Flow: Traffic → Emissions → Pollution →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1. CSV (traffic_counts.csv) → load_traffic_counts() creates vehicle agents (*_random) on roads.</a:t>
            </a:r>
          </a:p>
          <a:p>
            <a:pPr>
              <a:defRPr sz="1800">
                <a:latin typeface="Calibri"/>
              </a:defRPr>
            </a:pPr>
            <a:r>
              <a:t>2. Vehicles move (traffic.gaml, reflexes) on road_network each time step (activity).</a:t>
            </a:r>
          </a:p>
          <a:p>
            <a:pPr>
              <a:defRPr sz="1800">
                <a:latin typeface="Calibri"/>
              </a:defRPr>
            </a:pPr>
            <a:r>
              <a:t>3. Vehicle movement/counts/density along roads generate emissions (pollution.gaml reads/uses traffic state).</a:t>
            </a:r>
          </a:p>
          <a:p>
            <a:pPr>
              <a:defRPr sz="1800">
                <a:latin typeface="Calibri"/>
              </a:defRPr>
            </a:pPr>
            <a:r>
              <a:t>4. Pollution model updates spatial pollutant field (grid cells) over time (emissions + decay/dispersion conceptually).</a:t>
            </a:r>
          </a:p>
          <a:p>
            <a:pPr>
              <a:defRPr sz="1800">
                <a:latin typeface="Calibri"/>
              </a:defRPr>
            </a:pPr>
            <a:r>
              <a:t>5. instant_heatmap / pollution values feed calculate_aqi() in main.gaml (reflex every refreshing_rate_plot or step logic).</a:t>
            </a:r>
          </a:p>
          <a:p>
            <a:pPr>
              <a:defRPr sz="1800">
                <a:latin typeface="Calibri"/>
              </a:defRPr>
            </a:pPr>
            <a:r>
              <a:t>6. visualization.gaml renders: vehicles on roads + pollution layer/heatmap + charts (line_graph_aqi, progress bars, indicators).</a:t>
            </a:r>
          </a:p>
          <a:p>
            <a:pPr>
              <a:defRPr sz="1800">
                <a:latin typeface="Calibri"/>
              </a:defRPr>
            </a:pPr>
            <a:r>
              <a:t>End result: Interactive map showing traffic + pollution hotspots evolving over time.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8: agents/visualization.gaml – GUI &amp; Displays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Filename: models/agents/visualization.gaml</a:t>
            </a:r>
          </a:p>
          <a:p>
            <a:pPr>
              <a:defRPr sz="1800">
                <a:latin typeface="Calibri"/>
              </a:defRPr>
            </a:pPr>
            <a:r>
              <a:t>Purpose: Controls ALL graphical output in GAMA GUI (what user sees).</a:t>
            </a:r>
          </a:p>
          <a:p>
            <a:pPr>
              <a:defRPr sz="1800">
                <a:latin typeface="Calibri"/>
              </a:defRPr>
            </a:pPr>
            <a:r>
              <a:t>Defines displays (map views), how agents are drawn (shapes/colors/sizes), layers, charts, legends, UI layout.</a:t>
            </a:r>
          </a:p>
          <a:p>
            <a:pPr>
              <a:defRPr sz="1800">
                <a:latin typeface="Calibri"/>
              </a:defRPr>
            </a:pPr>
            <a:r>
              <a:t>Renders: roads, buildings, study_boundary, vehicles, pollution layers/heatmap, progress bars, indicators, AQI line graph.</a:t>
            </a:r>
          </a:p>
          <a:p>
            <a:pPr>
              <a:defRPr sz="1800">
                <a:latin typeface="Calibri"/>
              </a:defRPr>
            </a:pPr>
            <a:r>
              <a:t>Makes simulation visible/interpretable (critical for teaching/demo).</a:t>
            </a:r>
          </a:p>
          <a:p>
            <a:pPr>
              <a:defRPr sz="1800">
                <a:latin typeface="Calibri"/>
              </a:defRPr>
            </a:pPr>
            <a:r>
              <a:t>References: textures (from global_vars), labels, species (progress_bar, param_indicator, line_graph_aqi).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visualization.gaml – What Gets Displayed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Map/Background: GIS layers (roads, buildings, environment).</a:t>
            </a:r>
          </a:p>
          <a:p>
            <a:pPr>
              <a:defRPr sz="1800">
                <a:latin typeface="Calibri"/>
              </a:defRPr>
            </a:pPr>
            <a:r>
              <a:t>Agents: Vehicles (car_random, motorbike_random, bus_random, lorry_random) – drawn by type (color/shape).</a:t>
            </a:r>
          </a:p>
          <a:p>
            <a:pPr>
              <a:defRPr sz="1800">
                <a:latin typeface="Calibri"/>
              </a:defRPr>
            </a:pPr>
            <a:r>
              <a:t>Pollution Layer: Spatial pollution intensity (heatmap/gradient) – shows hotspots (darker/warmer = higher).</a:t>
            </a:r>
          </a:p>
          <a:p>
            <a:pPr>
              <a:defRPr sz="1800">
                <a:latin typeface="Calibri"/>
              </a:defRPr>
            </a:pPr>
            <a:r>
              <a:t>Study Boundary: study_boundary species (outline/area of study box).</a:t>
            </a:r>
          </a:p>
          <a:p>
            <a:pPr>
              <a:defRPr sz="1800">
                <a:latin typeface="Calibri"/>
              </a:defRPr>
            </a:pPr>
            <a:r>
              <a:t>UI Indicators: param_indicator (e.g. Time, values).</a:t>
            </a:r>
          </a:p>
          <a:p>
            <a:pPr>
              <a:defRPr sz="1800">
                <a:latin typeface="Calibri"/>
              </a:defRPr>
            </a:pPr>
            <a:r>
              <a:t>Progress Bars: progress_bar (fleet mix, EV rates, counts) – updated to real fleet (synced in load_traffic_counts).</a:t>
            </a:r>
          </a:p>
          <a:p>
            <a:pPr>
              <a:defRPr sz="1800">
                <a:latin typeface="Calibri"/>
              </a:defRPr>
            </a:pPr>
            <a:r>
              <a:t>Charts: line_graph_aqi – time-series of AQI/ pollution metric (updated by calculate_aqi reflex).</a:t>
            </a:r>
          </a:p>
          <a:p>
            <a:pPr>
              <a:defRPr sz="1800">
                <a:latin typeface="Calibri"/>
              </a:defRPr>
            </a:pPr>
            <a:r>
              <a:t>Buildings: 3D-like depth + textures for legibility.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Creation (main.gaml init)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create building from: buildings_shape_file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depth &lt;- (rnd(100)/100)*(rnd(100)/100)*(rnd(100)/100*10)*5 + 10;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texture &lt;- textures[rnd(9)];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reflex update_time (Update Clock/UI)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reflex update_time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int h &lt;- current_date.hour; int m &lt;- current_date.minute; int s &lt;- current_date.second;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string hh&lt;-((h&lt;10)?"0":"")+string(h); string mm&lt;-((m&lt;10)?"0":"")+string(m); string ss&lt;-((s&lt;10)?"0":"")+string(s);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string t &lt;- "" + date("now");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(param_indicator where (each.name = lb_Time))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do update(t);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reflex calculate_aqi (Pollution Metric Over 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reflex calculate_aqi when: every(refreshing_rate_plot)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float aqi &lt;- max(instant_heatmap);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ask line_graph_aqi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do update(aqi * 10);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// ask indicator_health_concern_level { do update(aqi);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main.gaml – action update_vehicle_population (EV Control)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action update_vehicle_population (string type, int delta)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if (type = "motorbike") {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ask motorbike_random { is_electrical &lt;- false;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    ask n_motorbikes among motorbike_random { is_electrical &lt;- true;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  // similar for car/bus/lorry...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9a: Full Simulation Execution Order – Initialisation (init)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Time 0 (Simulation Start): GAMA loads PenangAir.gaml (experiment runs).</a:t>
            </a:r>
          </a:p>
          <a:p>
            <a:pPr>
              <a:defRPr sz="1800">
                <a:latin typeface="Calibri"/>
              </a:defRPr>
            </a:pPr>
            <a:r>
              <a:t>1. Imports processed (global_vars, loadmap, main, agents).</a:t>
            </a:r>
          </a:p>
          <a:p>
            <a:pPr>
              <a:defRPr sz="1800">
                <a:latin typeface="Calibri"/>
              </a:defRPr>
            </a:pPr>
            <a:r>
              <a:t>2. Global variables initialized (defaults).</a:t>
            </a:r>
          </a:p>
          <a:p>
            <a:pPr>
              <a:defRPr sz="1800">
                <a:latin typeface="Calibri"/>
              </a:defRPr>
            </a:pPr>
            <a:r>
              <a:t>3. Experiment sets parameters (overrides globals if changed in GUI).</a:t>
            </a:r>
          </a:p>
          <a:p>
            <a:pPr>
              <a:defRPr sz="1800">
                <a:latin typeface="Calibri"/>
              </a:defRPr>
            </a:pPr>
            <a:r>
              <a:t>4. main.gaml init executes:</a:t>
            </a:r>
          </a:p>
          <a:p>
            <a:pPr>
              <a:defRPr sz="1800">
                <a:latin typeface="Calibri"/>
              </a:defRPr>
            </a:pPr>
            <a:r>
              <a:t>   - Convert CRS (site_4326→site_merc), build study_area</a:t>
            </a:r>
          </a:p>
          <a:p>
            <a:pPr>
              <a:defRPr sz="1800">
                <a:latin typeface="Calibri"/>
              </a:defRPr>
            </a:pPr>
            <a:r>
              <a:t>   - Create road/building agents from shapefiles</a:t>
            </a:r>
          </a:p>
          <a:p>
            <a:pPr>
              <a:defRPr sz="1800">
                <a:latin typeface="Calibri"/>
              </a:defRPr>
            </a:pPr>
            <a:r>
              <a:t>   - Build full_network, find largest connected component → clean (drop fragments)</a:t>
            </a:r>
          </a:p>
          <a:p>
            <a:pPr>
              <a:defRPr sz="1800">
                <a:latin typeface="Calibri"/>
              </a:defRPr>
            </a:pPr>
            <a:r>
              <a:t>   - Build road_weights + road_network (clean graph)</a:t>
            </a:r>
          </a:p>
          <a:p>
            <a:pPr>
              <a:defRPr sz="1800">
                <a:latin typeface="Calibri"/>
              </a:defRPr>
            </a:pPr>
            <a:r>
              <a:t>   - Create study_boundary, buildings (with depth/textures)</a:t>
            </a:r>
          </a:p>
          <a:p>
            <a:pPr>
              <a:defRPr sz="1800">
                <a:latin typeface="Calibri"/>
              </a:defRPr>
            </a:pPr>
            <a:r>
              <a:t>   - if (tttt==1): load_traffic_counts() runs (CSV read → maps → per-segment → spots → create *_random + sync UI bars)</a:t>
            </a:r>
          </a:p>
          <a:p>
            <a:pPr>
              <a:defRPr sz="1800">
                <a:latin typeface="Calibri"/>
              </a:defRPr>
            </a:pPr>
            <a:r>
              <a:t>5. Visualization/UI agents created (displays, progress_bar, param_indicator, line_graph_aqi) as defined in experiments/visualization.</a:t>
            </a:r>
          </a:p>
          <a:p>
            <a:pPr>
              <a:defRPr sz="1800">
                <a:latin typeface="Calibri"/>
              </a:defRPr>
            </a:pPr>
            <a:r>
              <a:t>6. Simulation ready → enters time-stepping loop.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9b: Runtime Loop (Each Simulation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Each time step (step = 1 #s by default): GAMA executes reflexes/actions in model order/species scheduling.</a:t>
            </a:r>
          </a:p>
          <a:p>
            <a:pPr>
              <a:defRPr sz="1800">
                <a:latin typeface="Calibri"/>
              </a:defRPr>
            </a:pPr>
            <a:r>
              <a:t>Typical order (conceptual):</a:t>
            </a:r>
          </a:p>
          <a:p>
            <a:pPr>
              <a:defRPr sz="1800">
                <a:latin typeface="Calibri"/>
              </a:defRPr>
            </a:pPr>
            <a:r>
              <a:t>1. Time advances by step.</a:t>
            </a:r>
          </a:p>
          <a:p>
            <a:pPr>
              <a:defRPr sz="1800">
                <a:latin typeface="Calibri"/>
              </a:defRPr>
            </a:pPr>
            <a:r>
              <a:t>2. Vehicle agents (traffic.gaml): reflexes run → vehicles move along road_network (position updated). Traffic activity evolves.</a:t>
            </a:r>
          </a:p>
          <a:p>
            <a:pPr>
              <a:defRPr sz="1800">
                <a:latin typeface="Calibri"/>
              </a:defRPr>
            </a:pPr>
            <a:r>
              <a:t>3. Pollution agents/grid (pollution.gaml): reflexes run → emissions updated based on traffic state, pollutant field updated (intensity, possible decay/dispersion).</a:t>
            </a:r>
          </a:p>
          <a:p>
            <a:pPr>
              <a:defRPr sz="1800">
                <a:latin typeface="Calibri"/>
              </a:defRPr>
            </a:pPr>
            <a:r>
              <a:t>4. main.gaml reflexes:</a:t>
            </a:r>
          </a:p>
          <a:p>
            <a:pPr>
              <a:defRPr sz="1800">
                <a:latin typeface="Calibri"/>
              </a:defRPr>
            </a:pPr>
            <a:r>
              <a:t>   - update_time: runs each step → updates Time UI indicator</a:t>
            </a:r>
          </a:p>
          <a:p>
            <a:pPr>
              <a:defRPr sz="1800">
                <a:latin typeface="Calibri"/>
              </a:defRPr>
            </a:pPr>
            <a:r>
              <a:t>   - calculate_aqi: runs when every(refreshing_rate_plot) → reads max(instant_heatmap), updates AQI line graph</a:t>
            </a:r>
          </a:p>
          <a:p>
            <a:pPr>
              <a:defRPr sz="1800">
                <a:latin typeface="Calibri"/>
              </a:defRPr>
            </a:pPr>
            <a:r>
              <a:t>5. Visualization: Displays refresh (GUI) → map, agents, pollution layer, charts redrawn/update.</a:t>
            </a:r>
          </a:p>
          <a:p>
            <a:pPr>
              <a:defRPr sz="1800">
                <a:latin typeface="Calibri"/>
              </a:defRPr>
            </a:pPr>
            <a:r>
              <a:t>6. Repeat for next step (continuous over simulation time).</a:t>
            </a:r>
          </a:p>
          <a:p>
            <a:pPr>
              <a:defRPr sz="1800">
                <a:latin typeface="Calibri"/>
              </a:defRPr>
            </a:pPr>
            <a:r>
              <a:t>Result: Dynamic, time-evolving simulation (traffic flows → pollution changes → visuals update).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9c: End-to-End Data Trace (Simple Summary)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GIS (includes/*.shp) → road/building geometries</a:t>
            </a:r>
          </a:p>
          <a:p>
            <a:pPr>
              <a:defRPr sz="1800">
                <a:latin typeface="Calibri"/>
              </a:defRPr>
            </a:pPr>
            <a:r>
              <a:t>CSV (includes/traffic_counts.csv) + road_name+highway+length_m+4 classes</a:t>
            </a:r>
          </a:p>
          <a:p>
            <a:pPr>
              <a:defRPr sz="1800">
                <a:latin typeface="Calibri"/>
              </a:defRPr>
            </a:pPr>
            <a:r>
              <a:t>load_traffic_counts(): name maps → class aggregates → per-segment volumes → crossing_h * counts * fleet_scale + carry → integer n + fractional carry → spots lists</a:t>
            </a:r>
          </a:p>
          <a:p>
            <a:pPr>
              <a:defRPr sz="1800">
                <a:latin typeface="Calibri"/>
              </a:defRPr>
            </a:pPr>
            <a:r>
              <a:t>create *_random from spots → vehicle agents on road_network</a:t>
            </a:r>
          </a:p>
          <a:p>
            <a:pPr>
              <a:defRPr sz="1800">
                <a:latin typeface="Calibri"/>
              </a:defRPr>
            </a:pPr>
            <a:r>
              <a:t>Traffic moves (network) each step → activity</a:t>
            </a:r>
          </a:p>
          <a:p>
            <a:pPr>
              <a:defRPr sz="1800">
                <a:latin typeface="Calibri"/>
              </a:defRPr>
            </a:pPr>
            <a:r>
              <a:t>Pollution updates spatial field from traffic → instant_heatmap/pollutant values</a:t>
            </a:r>
          </a:p>
          <a:p>
            <a:pPr>
              <a:defRPr sz="1800">
                <a:latin typeface="Calibri"/>
              </a:defRPr>
            </a:pPr>
            <a:r>
              <a:t>AQI: max(instant_heatmap) → line_graph_aqi over time</a:t>
            </a:r>
          </a:p>
          <a:p>
            <a:pPr>
              <a:defRPr sz="1800">
                <a:latin typeface="Calibri"/>
              </a:defRPr>
            </a:pPr>
            <a:r>
              <a:t>Visualization renders all layers (map + vehicles + pollution + UI + charts)</a:t>
            </a:r>
          </a:p>
          <a:p>
            <a:pPr>
              <a:defRPr sz="1800">
                <a:latin typeface="Calibri"/>
              </a:defRPr>
            </a:pPr>
            <a:r>
              <a:t>UI bars synced to real fleet (max_val updated) for correct percentages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Design Points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Modular: 7 files split by responsibility (config/space/orchestration/behaviour/UI). Easy to read/teach/extend.</a:t>
            </a:r>
          </a:p>
          <a:p>
            <a:pPr>
              <a:defRPr sz="1800">
                <a:latin typeface="Calibri"/>
              </a:defRPr>
            </a:pPr>
            <a:r>
              <a:t>Data-driven: Real GIS + real traffic survey CSV (not purely synthetic).</a:t>
            </a:r>
          </a:p>
          <a:p>
            <a:pPr>
              <a:defRPr sz="1800">
                <a:latin typeface="Calibri"/>
              </a:defRPr>
            </a:pPr>
            <a:r>
              <a:t>Robust GIS handling: Connected component filtering removes isolated fragments (prevents stuck vehicles).</a:t>
            </a:r>
          </a:p>
          <a:p>
            <a:pPr>
              <a:defRPr sz="1800">
                <a:latin typeface="Calibri"/>
              </a:defRPr>
            </a:pPr>
            <a:r>
              <a:t>Fair distribution: Fractional carry between segments avoids losing vehicle counts to int truncation (important for short segments).</a:t>
            </a:r>
          </a:p>
          <a:p>
            <a:pPr>
              <a:defRPr sz="1800">
                <a:latin typeface="Calibri"/>
              </a:defRPr>
            </a:pPr>
            <a:r>
              <a:t>Pragmatic fallback: Name match → class average → safe defaults (handles incomplete road names).</a:t>
            </a:r>
          </a:p>
          <a:p>
            <a:pPr>
              <a:defRPr sz="1800">
                <a:latin typeface="Calibri"/>
              </a:defRPr>
            </a:pPr>
            <a:r>
              <a:t>Performance-aware: total_spots capped by max_vehicles, scaled proportionally (preserves mix).</a:t>
            </a:r>
          </a:p>
          <a:p>
            <a:pPr>
              <a:defRPr sz="1800">
                <a:latin typeface="Calibri"/>
              </a:defRPr>
            </a:pPr>
            <a:r>
              <a:t>Order-awareness: UI max_val corrected after CSV load (init order fix).</a:t>
            </a:r>
          </a:p>
          <a:p>
            <a:pPr>
              <a:defRPr sz="1800">
                <a:latin typeface="Calibri"/>
              </a:defRPr>
            </a:pPr>
            <a:r>
              <a:t>Educational clarity: Toggle tttt shows CSV on/off; simple rule-based ABM (emergence).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tttt = 0 vs 1 – Explicit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tttt &lt;- 1 (default in main.gaml)</a:t>
            </a:r>
          </a:p>
          <a:p>
            <a:pPr>
              <a:defRPr sz="1800">
                <a:latin typeface="Calibri"/>
              </a:defRPr>
            </a:pPr>
            <a:r>
              <a:t>if (tttt == 1): do load_traffic_counts() EXECUTED</a:t>
            </a:r>
          </a:p>
          <a:p>
            <a:pPr>
              <a:defRPr sz="1800">
                <a:latin typeface="Calibri"/>
              </a:defRPr>
            </a:pPr>
            <a:r>
              <a:t>  → Reads traffic_counts.csv, builds realistic fleet by road name/class, spawns *_random agents accordingly.</a:t>
            </a:r>
          </a:p>
          <a:p>
            <a:pPr>
              <a:defRPr sz="1800">
                <a:latin typeface="Calibri"/>
              </a:defRPr>
            </a:pPr>
            <a:r>
              <a:t>if (tttt == 0): load_traffic_counts() NOT executed</a:t>
            </a:r>
          </a:p>
          <a:p>
            <a:pPr>
              <a:defRPr sz="1800">
                <a:latin typeface="Calibri"/>
              </a:defRPr>
            </a:pPr>
            <a:r>
              <a:t>  → CSV skipped. Vehicle agents NOT created by survey data here. Traffic would come from other initialization (parameter-based/default).</a:t>
            </a:r>
          </a:p>
          <a:p>
            <a:pPr>
              <a:defRPr sz="1800">
                <a:latin typeface="Calibri"/>
              </a:defRPr>
            </a:pPr>
            <a:r>
              <a:t>Effect: Controls 'Use real survey traffic counts?' (true/false).</a:t>
            </a:r>
          </a:p>
          <a:p>
            <a:pPr>
              <a:defRPr sz="1800">
                <a:latin typeface="Calibri"/>
              </a:defRPr>
            </a:pPr>
            <a:r>
              <a:t>Use case: tttt==1 for realism/demo, tttt==0 for testing simplified/synthetic traffic.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traffic_counts.csv → Code Mapping (Column Positions)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0 (road_name)  -&gt; counts[0,i]  (nm)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1 (highway)    -&gt; counts[1,i]  (hw)  (class for fallback + speeds)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2 (length_m)   -&gt; counts[2,i]  (informational; segment knows perimeter)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3 (cars)       -&gt; counts[3,i]  -&gt; c_n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4 (buses)      -&gt; counts[4,i]  -&gt; b_n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5 (lorries)    -&gt; counts[5,i]  -&gt; l_n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Col 6 (motorcycles)-&gt; counts[6,i]  -&gt; m_n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Formula: crossing_h = (perimeter_m/1000)/class_speed_of(hw)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raw = volume * crossing_h * fleet_scale + carry_prev</a:t>
            </a:r>
          </a:p>
          <a:p>
            <a:pPr>
              <a:spcAft>
                <a:spcPts val="0"/>
              </a:spcAft>
              <a:defRPr sz="1400">
                <a:latin typeface="Courier New"/>
              </a:defRPr>
            </a:pPr>
            <a:r>
              <a:t>n = int(raw), carry_next = raw - 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GAML Syntax Explained (For Non-Coders)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&lt;-  assignment (set value)</a:t>
            </a:r>
          </a:p>
          <a:p>
            <a:pPr>
              <a:defRPr sz="1800">
                <a:latin typeface="Calibri"/>
              </a:defRPr>
            </a:pPr>
            <a:r>
              <a:t>::  pair in map (key::value) e.g. each::each.shape.perimeter</a:t>
            </a:r>
          </a:p>
          <a:p>
            <a:pPr>
              <a:defRPr sz="1800">
                <a:latin typeface="Calibri"/>
              </a:defRPr>
            </a:pPr>
            <a:r>
              <a:t>in  membership test (checks if element in list/keys)</a:t>
            </a:r>
          </a:p>
          <a:p>
            <a:pPr>
              <a:defRPr sz="1800">
                <a:latin typeface="Calibri"/>
              </a:defRPr>
            </a:pPr>
            <a:r>
              <a:t>? : ternary: condition ? true_expr : false_expr</a:t>
            </a:r>
          </a:p>
          <a:p>
            <a:pPr>
              <a:defRPr sz="1800">
                <a:latin typeface="Calibri"/>
              </a:defRPr>
            </a:pPr>
            <a:r>
              <a:t>loop over: iterate list/map</a:t>
            </a:r>
          </a:p>
          <a:p>
            <a:pPr>
              <a:defRPr sz="1800">
                <a:latin typeface="Calibri"/>
              </a:defRPr>
            </a:pPr>
            <a:r>
              <a:t>ask &lt;agents&gt; { ... } : send command to agents (tell them to do something)</a:t>
            </a:r>
          </a:p>
          <a:p>
            <a:pPr>
              <a:defRPr sz="1800">
                <a:latin typeface="Calibri"/>
              </a:defRPr>
            </a:pPr>
            <a:r>
              <a:t>create &lt;species&gt; from: ... with: [attr::val]: spawn agents</a:t>
            </a:r>
          </a:p>
          <a:p>
            <a:pPr>
              <a:defRPr sz="1800">
                <a:latin typeface="Calibri"/>
              </a:defRPr>
            </a:pPr>
            <a:r>
              <a:t>as_map, as_edge_graph: convert lists to map/graph</a:t>
            </a:r>
          </a:p>
          <a:p>
            <a:pPr>
              <a:defRPr sz="1800">
                <a:latin typeface="Calibri"/>
              </a:defRPr>
            </a:pPr>
            <a:r>
              <a:t>connected_components_of(graph, true): find connected groups of edges/nodes</a:t>
            </a:r>
          </a:p>
          <a:p>
            <a:pPr>
              <a:defRPr sz="1800">
                <a:latin typeface="Calibri"/>
              </a:defRPr>
            </a:pPr>
            <a:r>
              <a:t>where (condition): filter list</a:t>
            </a:r>
          </a:p>
          <a:p>
            <a:pPr>
              <a:defRPr sz="1800">
                <a:latin typeface="Calibri"/>
              </a:defRPr>
            </a:pPr>
            <a:r>
              <a:t>first(list where ...): get first match</a:t>
            </a:r>
          </a:p>
          <a:p>
            <a:pPr>
              <a:defRPr sz="1800">
                <a:latin typeface="Calibri"/>
              </a:defRPr>
            </a:pPr>
            <a:r>
              <a:t>every(refreshing_rate_plot): time condition (run every X time)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Three Agent Submodels (Roles + Code Focus)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traffic.gaml: Vehicle species + network movement. Defines WHO moves (cars/bikes/buses/lorries, *_random). Behaviour over roads (source).</a:t>
            </a:r>
          </a:p>
          <a:p>
            <a:pPr>
              <a:defRPr sz="1800">
                <a:latin typeface="Calibri"/>
              </a:defRPr>
            </a:pPr>
            <a:r>
              <a:t>pollution.gaml: Emissions + spatial pollution field. Defines IMPACT (concentrations, hotspots). Takes traffic activity as input.</a:t>
            </a:r>
          </a:p>
          <a:p>
            <a:pPr>
              <a:defRPr sz="1800">
                <a:latin typeface="Calibri"/>
              </a:defRPr>
            </a:pPr>
            <a:r>
              <a:t>visualization.gaml: Displays, rendering, charts, UI. Defines WHAT WE SEE (map, layers, graphs, bars). Presents results clearly.</a:t>
            </a:r>
          </a:p>
          <a:p>
            <a:pPr>
              <a:defRPr sz="1800">
                <a:latin typeface="Calibri"/>
              </a:defRPr>
            </a:pPr>
            <a:r>
              <a:t>Interaction: Traffic (activity) → Pollution (field/update) → Visualization (render). main.gaml ties timing (reflexes).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Recap: Setup Files (Roles)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PenangAir.gaml: Entry point, imports, species, experiments (RUN model).</a:t>
            </a:r>
          </a:p>
          <a:p>
            <a:pPr>
              <a:defRPr sz="1800">
                <a:latin typeface="Calibri"/>
              </a:defRPr>
            </a:pPr>
            <a:r>
              <a:t>global_vars.gaml: All parameters, constants, labels, textures (CONFIG).</a:t>
            </a:r>
          </a:p>
          <a:p>
            <a:pPr>
              <a:defRPr sz="1800">
                <a:latin typeface="Calibri"/>
              </a:defRPr>
            </a:pPr>
            <a:r>
              <a:t>loadmap.gaml: Shapefile loading, GIS environment (SPACE/GIS).</a:t>
            </a:r>
          </a:p>
          <a:p>
            <a:pPr>
              <a:defRPr sz="1800">
                <a:latin typeface="Calibri"/>
              </a:defRPr>
            </a:pPr>
            <a:r>
              <a:t>main.gaml: Init orchestration, network cleaning, CSV load (load_traffic_counts), scheduling, time/AQI reflexes (ORCHESTRATION+TIME).</a:t>
            </a:r>
          </a:p>
          <a:p>
            <a:pPr>
              <a:defRPr sz="1800">
                <a:latin typeface="Calibri"/>
              </a:defRPr>
            </a:pPr>
            <a:r>
              <a:t>includes/: Input data (shapefiles + traffic_counts.csv) – DATA.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Teaching Tips (For This Detailed Walkthrough)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Start broad (Slides 1–3: GAMA basics), then narrow to files.</a:t>
            </a:r>
          </a:p>
          <a:p>
            <a:pPr>
              <a:defRPr sz="1800">
                <a:latin typeface="Calibri"/>
              </a:defRPr>
            </a:pPr>
            <a:r>
              <a:t>Follow execution order: Slides 15–19 (init) → 21–31 (CSV load in detail) → 32–43 (agents+reflexes) → 44–46 (runtime).</a:t>
            </a:r>
          </a:p>
          <a:p>
            <a:pPr>
              <a:defRPr sz="1800">
                <a:latin typeface="Calibri"/>
              </a:defRPr>
            </a:pPr>
            <a:r>
              <a:t>Emphasise cause–effect: Traffic → Emissions → Pollution (Slides 35–37).</a:t>
            </a:r>
          </a:p>
          <a:p>
            <a:pPr>
              <a:defRPr sz="1800">
                <a:latin typeface="Calibri"/>
              </a:defRPr>
            </a:pPr>
            <a:r>
              <a:t>Focus on tttt + CSV mapping (Slides 19,24,28–31,48–49) – common questions.</a:t>
            </a:r>
          </a:p>
          <a:p>
            <a:pPr>
              <a:defRPr sz="1800">
                <a:latin typeface="Calibri"/>
              </a:defRPr>
            </a:pPr>
            <a:r>
              <a:t>Trace one segment conceptually: CSV row → named match → crossing_h → spots → agent spawned (helps non-coders).</a:t>
            </a:r>
          </a:p>
          <a:p>
            <a:pPr>
              <a:defRPr sz="1800">
                <a:latin typeface="Calibri"/>
              </a:defRPr>
            </a:pPr>
            <a:r>
              <a:t>Use demo alongside: run model, point to map while explaining visualization (Slide 38–39).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Check – Questions to Test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Q1: What is the purpose of tttt? When is traffic_counts.csv loaded?</a:t>
            </a:r>
          </a:p>
          <a:p>
            <a:pPr>
              <a:defRPr sz="1800">
                <a:latin typeface="Calibri"/>
              </a:defRPr>
            </a:pPr>
            <a:r>
              <a:t>Q2: Why do we match by road_name first, then fallback to highway class?</a:t>
            </a:r>
          </a:p>
          <a:p>
            <a:pPr>
              <a:defRPr sz="1800">
                <a:latin typeface="Calibri"/>
              </a:defRPr>
            </a:pPr>
            <a:r>
              <a:t>Q3: Why do we remove isolated road fragments (connected components)?</a:t>
            </a:r>
          </a:p>
          <a:p>
            <a:pPr>
              <a:defRPr sz="1800">
                <a:latin typeface="Calibri"/>
              </a:defRPr>
            </a:pPr>
            <a:r>
              <a:t>Q4: What is 'fractional carry' between segments and why is it needed?</a:t>
            </a:r>
          </a:p>
          <a:p>
            <a:pPr>
              <a:defRPr sz="1800">
                <a:latin typeface="Calibri"/>
              </a:defRPr>
            </a:pPr>
            <a:r>
              <a:t>Q5: Why do we cap to max_vehicles but scale proportionally across classes?</a:t>
            </a:r>
          </a:p>
          <a:p>
            <a:pPr>
              <a:defRPr sz="1800">
                <a:latin typeface="Calibri"/>
              </a:defRPr>
            </a:pPr>
            <a:r>
              <a:t>Q6: Why do progress_bar max_val need to be resynced after load_traffic_counts?</a:t>
            </a:r>
          </a:p>
          <a:p>
            <a:pPr>
              <a:defRPr sz="1800">
                <a:latin typeface="Calibri"/>
              </a:defRPr>
            </a:pPr>
            <a:r>
              <a:t>Q7: Explain the chain: traffic_counts.csv → vehicle agents → pollution → visualization.</a:t>
            </a:r>
          </a:p>
          <a:p>
            <a:pPr>
              <a:defRPr sz="1800">
                <a:latin typeface="Calibri"/>
              </a:defRPr>
            </a:pPr>
            <a:r>
              <a:t>Q8: What is the difference between init and reflex in GAMA?</a:t>
            </a:r>
          </a:p>
          <a:p>
            <a:pPr>
              <a:defRPr sz="1800">
                <a:latin typeface="Calibri"/>
              </a:defRPr>
            </a:pPr>
            <a:r>
              <a:t>Q9: What does road_network represent vs road_weights?</a:t>
            </a:r>
          </a:p>
          <a:p>
            <a:pPr>
              <a:defRPr sz="1800">
                <a:latin typeface="Calibri"/>
              </a:defRPr>
            </a:pPr>
            <a:r>
              <a:t>Q10: What is the role of PenangAir.gaml vs main.gaml?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Exploration (Hands-On Exercises)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Exercise 1: Set tttt &lt;- 0, run model. Compare traffic distribution vs tttt==1. What changes?</a:t>
            </a:r>
          </a:p>
          <a:p>
            <a:pPr>
              <a:defRPr sz="1800">
                <a:latin typeface="Calibri"/>
              </a:defRPr>
            </a:pPr>
            <a:r>
              <a:t>Exercise 2: Tweak fleet_scale (0.5, 1.0, 2.0) in GUI – observe traffic+pollution response.</a:t>
            </a:r>
          </a:p>
          <a:p>
            <a:pPr>
              <a:defRPr sz="1800">
                <a:latin typeface="Calibri"/>
              </a:defRPr>
            </a:pPr>
            <a:r>
              <a:t>Exercise 3: Change study_half_size (500m, 2000m) – see network extent change.</a:t>
            </a:r>
          </a:p>
          <a:p>
            <a:pPr>
              <a:defRPr sz="1800">
                <a:latin typeface="Calibri"/>
              </a:defRPr>
            </a:pPr>
            <a:r>
              <a:t>Exercise 4: Look up a specific road_name in traffic_counts.csv, find it in map – trace how many vehicles spawned.</a:t>
            </a:r>
          </a:p>
          <a:p>
            <a:pPr>
              <a:defRPr sz="1800">
                <a:latin typeface="Calibri"/>
              </a:defRPr>
            </a:pPr>
            <a:r>
              <a:t>Exercise 5: Read pollution.gaml in detail – identify how instant_heatmap is built/updated.</a:t>
            </a:r>
          </a:p>
          <a:p>
            <a:pPr>
              <a:defRPr sz="1800">
                <a:latin typeface="Calibri"/>
              </a:defRPr>
            </a:pPr>
            <a:r>
              <a:t>Exercise 6: Modify max_vehicles – see performance/visual density trade-off.</a:t>
            </a:r>
          </a:p>
          <a:p>
            <a:pPr>
              <a:defRPr sz="1800">
                <a:latin typeface="Calibri"/>
              </a:defRPr>
            </a:pPr>
            <a:r>
              <a:t>Exercise 7: Explore GAMA docs: 'Graph', 'Connected Components', 'CSV', 'Reflex vs Init'.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+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latin typeface="Calibri"/>
              </a:defRPr>
            </a:pPr>
            <a:r>
              <a:t>References:</a:t>
            </a:r>
          </a:p>
          <a:p>
            <a:pPr>
              <a:defRPr sz="1800">
                <a:latin typeface="Calibri"/>
              </a:defRPr>
            </a:pPr>
            <a:r>
              <a:t>  - GAMA Platform: https://gama-platform.org/</a:t>
            </a:r>
          </a:p>
          <a:p>
            <a:pPr>
              <a:defRPr sz="1800">
                <a:latin typeface="Calibri"/>
              </a:defRPr>
            </a:pPr>
            <a:r>
              <a:t>  - GAMA Documentation: https://gama-platform.org/wiki/Home</a:t>
            </a:r>
          </a:p>
          <a:p>
            <a:pPr>
              <a:defRPr sz="1800">
                <a:latin typeface="Calibri"/>
              </a:defRPr>
            </a:pPr>
            <a:r>
              <a:t>  - GAML Language Reference: https://gama-platform.org/wiki/GAML_Reference</a:t>
            </a:r>
          </a:p>
          <a:p>
            <a:pPr>
              <a:defRPr sz="1800">
                <a:latin typeface="Calibri"/>
              </a:defRPr>
            </a:pPr>
            <a:r>
              <a:t>  - Agent-Based Modelling: https://en.wikipedia.org/wiki/Agent-based_model</a:t>
            </a:r>
          </a:p>
          <a:p>
            <a:pPr>
              <a:defRPr sz="1800">
                <a:latin typeface="Calibri"/>
              </a:defRPr>
            </a:pPr>
            <a:r>
              <a:t>Project Files Referenced:</a:t>
            </a:r>
          </a:p>
          <a:p>
            <a:pPr>
              <a:defRPr sz="1800">
                <a:latin typeface="Calibri"/>
              </a:defRPr>
            </a:pPr>
            <a:r>
              <a:t>  - models/PenangAir.gaml, global_vars.gaml, loadmap.gaml, main.gaml</a:t>
            </a:r>
          </a:p>
          <a:p>
            <a:pPr>
              <a:defRPr sz="1800">
                <a:latin typeface="Calibri"/>
              </a:defRPr>
            </a:pPr>
            <a:r>
              <a:t>  - models/agents/traffic.gaml, pollution.gaml, visualization.gaml</a:t>
            </a:r>
          </a:p>
          <a:p>
            <a:pPr>
              <a:defRPr sz="1800">
                <a:latin typeface="Calibri"/>
              </a:defRPr>
            </a:pPr>
            <a:r>
              <a:t>  - includes/traffic_counts.csv, *.shp</a:t>
            </a:r>
          </a:p>
          <a:p>
            <a:pPr>
              <a:defRPr sz="1800">
                <a:latin typeface="Calibri"/>
              </a:defRPr>
            </a:pPr>
            <a:r>
              <a:t>  - README.md, PenangAir_model_and_guide.docx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Thank You – End of Detailed Code Walkthrough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